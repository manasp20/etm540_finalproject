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Roboto"/>
      <p:regular r:id="rId30"/>
      <p:bold r:id="rId31"/>
      <p:italic r:id="rId32"/>
      <p:boldItalic r:id="rId33"/>
    </p:embeddedFont>
    <p:embeddedFont>
      <p:font typeface="Maven Pro"/>
      <p:regular r:id="rId34"/>
      <p:bold r:id="rId35"/>
    </p:embeddedFont>
    <p:embeddedFont>
      <p:font typeface="Public Sans"/>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he6vDU6s+wOeSrmt8hUzpAd8Bp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25651A-9524-48F9-A490-1E65C2EF8FEB}">
  <a:tblStyle styleId="{1025651A-9524-48F9-A490-1E65C2EF8FE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MavenPro-bold.fntdata"/><Relationship Id="rId12" Type="http://schemas.openxmlformats.org/officeDocument/2006/relationships/slide" Target="slides/slide6.xml"/><Relationship Id="rId34" Type="http://schemas.openxmlformats.org/officeDocument/2006/relationships/font" Target="fonts/MavenPro-regular.fntdata"/><Relationship Id="rId15" Type="http://schemas.openxmlformats.org/officeDocument/2006/relationships/slide" Target="slides/slide9.xml"/><Relationship Id="rId37" Type="http://schemas.openxmlformats.org/officeDocument/2006/relationships/font" Target="fonts/PublicSans-boldItalic.fntdata"/><Relationship Id="rId14" Type="http://schemas.openxmlformats.org/officeDocument/2006/relationships/slide" Target="slides/slide8.xml"/><Relationship Id="rId36" Type="http://schemas.openxmlformats.org/officeDocument/2006/relationships/font" Target="fonts/PublicSans-bold.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e70d1e1fd_2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31e70d1e1fd_2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55" name="Google Shape;155;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56" name="Google Shape;156;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key factors used in Data Envelopment Analysis (DEA) to assess hospital efficiency are: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Number of Discharges: This metric reflects the volume of care provided by the hospital.</a:t>
            </a:r>
            <a:endParaRPr/>
          </a:p>
          <a:p>
            <a:pPr indent="0" lvl="0" marL="0" rtl="0" algn="l">
              <a:lnSpc>
                <a:spcPct val="100000"/>
              </a:lnSpc>
              <a:spcBef>
                <a:spcPts val="0"/>
              </a:spcBef>
              <a:spcAft>
                <a:spcPts val="0"/>
              </a:spcAft>
              <a:buSzPts val="1400"/>
              <a:buNone/>
            </a:pPr>
            <a:r>
              <a:rPr lang="en-US"/>
              <a:t>Number of Readmissions: This indicates the quality of care and the hospital's ability to manage patient flow.</a:t>
            </a:r>
            <a:endParaRPr/>
          </a:p>
          <a:p>
            <a:pPr indent="0" lvl="0" marL="0" rtl="0" algn="l">
              <a:lnSpc>
                <a:spcPct val="100000"/>
              </a:lnSpc>
              <a:spcBef>
                <a:spcPts val="0"/>
              </a:spcBef>
              <a:spcAft>
                <a:spcPts val="0"/>
              </a:spcAft>
              <a:buSzPts val="1400"/>
              <a:buNone/>
            </a:pPr>
            <a:r>
              <a:rPr lang="en-US"/>
              <a:t>Predicted and Expected Readmission Rates: These metrics provide insights into the potential strain on hospital resources and identify areas for improvement.</a:t>
            </a:r>
            <a:endParaRPr/>
          </a:p>
          <a:p>
            <a:pPr indent="0" lvl="0" marL="0" rtl="0" algn="l">
              <a:lnSpc>
                <a:spcPct val="100000"/>
              </a:lnSpc>
              <a:spcBef>
                <a:spcPts val="0"/>
              </a:spcBef>
              <a:spcAft>
                <a:spcPts val="0"/>
              </a:spcAft>
              <a:buSzPts val="1400"/>
              <a:buNone/>
            </a:pPr>
            <a:r>
              <a:rPr lang="en-US"/>
              <a:t>Medicare Spending Per Beneficiary (MSPB): This measure assesses the financial efficiency of the hospital.</a:t>
            </a:r>
            <a:endParaRPr/>
          </a:p>
          <a:p>
            <a:pPr indent="0" lvl="0" marL="0" rtl="0" algn="l">
              <a:lnSpc>
                <a:spcPct val="100000"/>
              </a:lnSpc>
              <a:spcBef>
                <a:spcPts val="0"/>
              </a:spcBef>
              <a:spcAft>
                <a:spcPts val="0"/>
              </a:spcAft>
              <a:buSzPts val="1400"/>
              <a:buNone/>
            </a:pPr>
            <a:r>
              <a:rPr lang="en-US"/>
              <a:t>By analyzing these factors, DEA can identify hospitals that are efficient in utilizing resources to achieve desired outcomes. It can also pinpoint areas where hospitals can improve their performance, such as reducing readmission rates, increasing patient throughput, and optimizing resource allocation.</a:t>
            </a:r>
            <a:endParaRPr/>
          </a:p>
        </p:txBody>
      </p:sp>
      <p:sp>
        <p:nvSpPr>
          <p:cNvPr id="158" name="Google Shape;158;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59" name="Google Shape;159;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89" name="Google Shape;189;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190" name="Google Shape;190;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dataset for analysis focuses on indicators such as Medicare spending efficiency, resource utilization, imaging efficiency, and facility performance metrics. Quality factors like readmission rates, complication rates, mortality rates, and patient safety indicators are relevant, but only readmission rates are included in this study.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Hypothesis: Facilities with low readmission rates, high discharge numbers, low complication rates, and efficient resource utilization are hypothesized to be more operationally efficient based on DEA (Data Envelopment Analysis) methods.</a:t>
            </a:r>
            <a:endParaRPr/>
          </a:p>
        </p:txBody>
      </p:sp>
      <p:sp>
        <p:nvSpPr>
          <p:cNvPr id="192" name="Google Shape;192;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193" name="Google Shape;193;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1" name="Google Shape;201;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sz="1200">
                <a:solidFill>
                  <a:schemeClr val="dk1"/>
                </a:solidFill>
                <a:latin typeface="Calibri"/>
                <a:ea typeface="Calibri"/>
                <a:cs typeface="Calibri"/>
                <a:sym typeface="Calibri"/>
              </a:rPr>
              <a:t>1.7.2013</a:t>
            </a:r>
            <a:endParaRPr/>
          </a:p>
        </p:txBody>
      </p:sp>
      <p:sp>
        <p:nvSpPr>
          <p:cNvPr id="202" name="Google Shape;202;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key factors used in Data Envelopment Analysis (DEA) to assess hospital efficiency are: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Number of Discharges: This metric reflects the volume of care provided by the hospital.</a:t>
            </a:r>
            <a:endParaRPr/>
          </a:p>
          <a:p>
            <a:pPr indent="0" lvl="0" marL="0" rtl="0" algn="l">
              <a:lnSpc>
                <a:spcPct val="100000"/>
              </a:lnSpc>
              <a:spcBef>
                <a:spcPts val="0"/>
              </a:spcBef>
              <a:spcAft>
                <a:spcPts val="0"/>
              </a:spcAft>
              <a:buSzPts val="1400"/>
              <a:buNone/>
            </a:pPr>
            <a:r>
              <a:rPr lang="en-US"/>
              <a:t>Number of Readmissions: This indicates the quality of care and the hospital's ability to manage patient flow.</a:t>
            </a:r>
            <a:endParaRPr/>
          </a:p>
          <a:p>
            <a:pPr indent="0" lvl="0" marL="0" rtl="0" algn="l">
              <a:lnSpc>
                <a:spcPct val="100000"/>
              </a:lnSpc>
              <a:spcBef>
                <a:spcPts val="0"/>
              </a:spcBef>
              <a:spcAft>
                <a:spcPts val="0"/>
              </a:spcAft>
              <a:buSzPts val="1400"/>
              <a:buNone/>
            </a:pPr>
            <a:r>
              <a:rPr lang="en-US"/>
              <a:t>Predicted and Expected Readmission Rates: These metrics provide insights into the potential strain on hospital resources and identify areas for improvement.</a:t>
            </a:r>
            <a:endParaRPr/>
          </a:p>
          <a:p>
            <a:pPr indent="0" lvl="0" marL="0" rtl="0" algn="l">
              <a:lnSpc>
                <a:spcPct val="100000"/>
              </a:lnSpc>
              <a:spcBef>
                <a:spcPts val="0"/>
              </a:spcBef>
              <a:spcAft>
                <a:spcPts val="0"/>
              </a:spcAft>
              <a:buSzPts val="1400"/>
              <a:buNone/>
            </a:pPr>
            <a:r>
              <a:rPr lang="en-US"/>
              <a:t>By analyzing these factors, DEA can identify hospitals that are efficient in utilizing resources to achieve desired outcomes. It can also pinpoint areas where hospitals can improve their performance, such as reducing readmission rates, increasing patient throughput, and optimizing resource allocation.</a:t>
            </a:r>
            <a:endParaRPr/>
          </a:p>
        </p:txBody>
      </p:sp>
      <p:sp>
        <p:nvSpPr>
          <p:cNvPr id="204" name="Google Shape;204;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205" name="Google Shape;205;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e70d1e1fd_4_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1e70d1e1fd_4_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1e70d1e1fd_4_2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1e70d1e1fd_4_2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e70d1e1fd_4_3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CMS Medicare PSI 90: Patient safety and adverse events composite</a:t>
            </a:r>
            <a:endParaRPr/>
          </a:p>
        </p:txBody>
      </p:sp>
      <p:sp>
        <p:nvSpPr>
          <p:cNvPr id="257" name="Google Shape;257;g31e70d1e1fd_4_37: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e70d1e1fd_4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1e70d1e1fd_4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e70d1e1fd_4_5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1e70d1e1fd_4_59: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data.cms.gov" TargetMode="External"/><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87" name="Shape 87"/>
        <p:cNvGrpSpPr/>
        <p:nvPr/>
      </p:nvGrpSpPr>
      <p:grpSpPr>
        <a:xfrm>
          <a:off x="0" y="0"/>
          <a:ext cx="0" cy="0"/>
          <a:chOff x="0" y="0"/>
          <a:chExt cx="0" cy="0"/>
        </a:xfrm>
      </p:grpSpPr>
      <p:sp>
        <p:nvSpPr>
          <p:cNvPr id="88" name="Google Shape;88;p1"/>
          <p:cNvSpPr txBox="1"/>
          <p:nvPr/>
        </p:nvSpPr>
        <p:spPr>
          <a:xfrm>
            <a:off x="1193429" y="3256929"/>
            <a:ext cx="15901200" cy="1172100"/>
          </a:xfrm>
          <a:prstGeom prst="rect">
            <a:avLst/>
          </a:prstGeom>
          <a:noFill/>
          <a:ln>
            <a:noFill/>
          </a:ln>
        </p:spPr>
        <p:txBody>
          <a:bodyPr anchorCtr="0" anchor="t" bIns="0" lIns="0" spcFirstLastPara="1" rIns="0" wrap="square" tIns="0">
            <a:spAutoFit/>
          </a:bodyPr>
          <a:lstStyle/>
          <a:p>
            <a:pPr indent="0" lvl="0" marL="0" marR="0" rtl="0" algn="ctr">
              <a:lnSpc>
                <a:spcPct val="111006"/>
              </a:lnSpc>
              <a:spcBef>
                <a:spcPts val="0"/>
              </a:spcBef>
              <a:spcAft>
                <a:spcPts val="0"/>
              </a:spcAft>
              <a:buClr>
                <a:srgbClr val="000000"/>
              </a:buClr>
              <a:buSzPts val="7614"/>
              <a:buFont typeface="Arial"/>
              <a:buNone/>
            </a:pPr>
            <a:r>
              <a:rPr b="1" i="0" lang="en-US" sz="7614" u="none" cap="none" strike="noStrike">
                <a:solidFill>
                  <a:srgbClr val="252930"/>
                </a:solidFill>
                <a:latin typeface="Maven Pro"/>
                <a:ea typeface="Maven Pro"/>
                <a:cs typeface="Maven Pro"/>
                <a:sym typeface="Maven Pro"/>
              </a:rPr>
              <a:t>Healthcare </a:t>
            </a:r>
            <a:r>
              <a:rPr b="1" lang="en-US" sz="7614">
                <a:solidFill>
                  <a:srgbClr val="252930"/>
                </a:solidFill>
                <a:latin typeface="Maven Pro"/>
                <a:ea typeface="Maven Pro"/>
                <a:cs typeface="Maven Pro"/>
                <a:sym typeface="Maven Pro"/>
              </a:rPr>
              <a:t>Patient Safety</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p:nvPr/>
        </p:nvSpPr>
        <p:spPr>
          <a:xfrm flipH="1" rot="10800000">
            <a:off x="14297025" y="6296025"/>
            <a:ext cx="4114800" cy="4114800"/>
          </a:xfrm>
          <a:custGeom>
            <a:rect b="b" l="l" r="r" t="t"/>
            <a:pathLst>
              <a:path extrusionOk="0" h="4114800" w="4114800">
                <a:moveTo>
                  <a:pt x="0" y="4114800"/>
                </a:moveTo>
                <a:lnTo>
                  <a:pt x="4114800" y="4114800"/>
                </a:lnTo>
                <a:lnTo>
                  <a:pt x="4114800" y="0"/>
                </a:lnTo>
                <a:lnTo>
                  <a:pt x="0" y="0"/>
                </a:lnTo>
                <a:lnTo>
                  <a:pt x="0" y="411480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1"/>
          <p:cNvSpPr/>
          <p:nvPr/>
        </p:nvSpPr>
        <p:spPr>
          <a:xfrm>
            <a:off x="17657548" y="293921"/>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p:nvPr/>
        </p:nvSpPr>
        <p:spPr>
          <a:xfrm flipH="1" rot="10800000">
            <a:off x="14542983" y="-104775"/>
            <a:ext cx="2716317" cy="1358159"/>
          </a:xfrm>
          <a:custGeom>
            <a:rect b="b" l="l" r="r" t="t"/>
            <a:pathLst>
              <a:path extrusionOk="0" h="1358159" w="2716317">
                <a:moveTo>
                  <a:pt x="0" y="1358159"/>
                </a:moveTo>
                <a:lnTo>
                  <a:pt x="2716317" y="1358159"/>
                </a:lnTo>
                <a:lnTo>
                  <a:pt x="2716317" y="0"/>
                </a:lnTo>
                <a:lnTo>
                  <a:pt x="0" y="0"/>
                </a:lnTo>
                <a:lnTo>
                  <a:pt x="0" y="1358159"/>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p:nvPr/>
        </p:nvSpPr>
        <p:spPr>
          <a:xfrm>
            <a:off x="6848804" y="8742398"/>
            <a:ext cx="4269428" cy="1013989"/>
          </a:xfrm>
          <a:custGeom>
            <a:rect b="b" l="l" r="r" t="t"/>
            <a:pathLst>
              <a:path extrusionOk="0" h="1013989" w="4269428">
                <a:moveTo>
                  <a:pt x="0" y="0"/>
                </a:moveTo>
                <a:lnTo>
                  <a:pt x="4269428" y="0"/>
                </a:lnTo>
                <a:lnTo>
                  <a:pt x="4269428" y="1013990"/>
                </a:lnTo>
                <a:lnTo>
                  <a:pt x="0" y="101399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2408496" y="6353175"/>
            <a:ext cx="13945929" cy="96844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736"/>
              <a:buFont typeface="Arial"/>
              <a:buNone/>
            </a:pPr>
            <a:r>
              <a:rPr b="0" i="0" lang="en-US" sz="3736" u="none" cap="none" strike="noStrike">
                <a:solidFill>
                  <a:srgbClr val="252930"/>
                </a:solidFill>
                <a:latin typeface="Maven Pro"/>
                <a:ea typeface="Maven Pro"/>
                <a:cs typeface="Maven Pro"/>
                <a:sym typeface="Maven Pro"/>
              </a:rPr>
              <a:t>Team 3 - Emmanuel, Dao, Anish, Manaswini, Pamela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736"/>
              <a:buFont typeface="Arial"/>
              <a:buNone/>
            </a:pPr>
            <a:r>
              <a:t/>
            </a:r>
            <a:endParaRPr b="0" i="0" sz="3736" u="none" cap="none" strike="noStrike">
              <a:solidFill>
                <a:srgbClr val="252930"/>
              </a:solidFill>
              <a:latin typeface="Maven Pro"/>
              <a:ea typeface="Maven Pro"/>
              <a:cs typeface="Maven Pro"/>
              <a:sym typeface="Maven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98" name="Shape 98"/>
        <p:cNvGrpSpPr/>
        <p:nvPr/>
      </p:nvGrpSpPr>
      <p:grpSpPr>
        <a:xfrm>
          <a:off x="0" y="0"/>
          <a:ext cx="0" cy="0"/>
          <a:chOff x="0" y="0"/>
          <a:chExt cx="0" cy="0"/>
        </a:xfrm>
      </p:grpSpPr>
      <p:sp>
        <p:nvSpPr>
          <p:cNvPr id="99" name="Google Shape;99;p2"/>
          <p:cNvSpPr txBox="1"/>
          <p:nvPr/>
        </p:nvSpPr>
        <p:spPr>
          <a:xfrm>
            <a:off x="3124525" y="4815025"/>
            <a:ext cx="13615500" cy="5232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chemeClr val="dk1"/>
              </a:solidFill>
              <a:latin typeface="Maven Pro"/>
              <a:ea typeface="Maven Pro"/>
              <a:cs typeface="Maven Pro"/>
              <a:sym typeface="Maven Pro"/>
            </a:endParaRPr>
          </a:p>
        </p:txBody>
      </p:sp>
      <p:sp>
        <p:nvSpPr>
          <p:cNvPr id="100" name="Google Shape;100;p2"/>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1182323" y="3919900"/>
            <a:ext cx="6351900" cy="2031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000" u="none" cap="none" strike="noStrike">
                <a:solidFill>
                  <a:schemeClr val="dk1"/>
                </a:solidFill>
                <a:latin typeface="Public Sans"/>
                <a:ea typeface="Public Sans"/>
                <a:cs typeface="Public Sans"/>
                <a:sym typeface="Public Sans"/>
              </a:rPr>
              <a:t>In this Presentation</a:t>
            </a:r>
            <a:endParaRPr>
              <a:solidFill>
                <a:schemeClr val="dk1"/>
              </a:solidFill>
            </a:endParaRPr>
          </a:p>
        </p:txBody>
      </p:sp>
      <p:sp>
        <p:nvSpPr>
          <p:cNvPr id="102" name="Google Shape;102;p2"/>
          <p:cNvSpPr txBox="1"/>
          <p:nvPr/>
        </p:nvSpPr>
        <p:spPr>
          <a:xfrm>
            <a:off x="10264174" y="2494600"/>
            <a:ext cx="8163300" cy="5442900"/>
          </a:xfrm>
          <a:prstGeom prst="rect">
            <a:avLst/>
          </a:prstGeom>
          <a:noFill/>
          <a:ln>
            <a:noFill/>
          </a:ln>
        </p:spPr>
        <p:txBody>
          <a:bodyPr anchorCtr="0" anchor="t" bIns="0" lIns="0" spcFirstLastPara="1" rIns="0" wrap="square" tIns="0">
            <a:spAutoFit/>
          </a:bodyPr>
          <a:lstStyle/>
          <a:p>
            <a:pPr indent="-393700" lvl="0" marL="457200" marR="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Introduction</a:t>
            </a:r>
            <a:endParaRPr sz="2600">
              <a:solidFill>
                <a:srgbClr val="343434"/>
              </a:solidFill>
              <a:latin typeface="Public Sans"/>
              <a:ea typeface="Public Sans"/>
              <a:cs typeface="Public Sans"/>
              <a:sym typeface="Public Sans"/>
            </a:endParaRPr>
          </a:p>
          <a:p>
            <a:pPr indent="-393700" lvl="0" marL="457200" marR="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Who, When, Why, Where</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Literature Review</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Input</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Methodology</a:t>
            </a:r>
            <a:endParaRPr>
              <a:solidFill>
                <a:schemeClr val="dk1"/>
              </a:solidFill>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Output</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Results</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Discussion</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Limitations</a:t>
            </a:r>
            <a:endParaRPr sz="2600">
              <a:solidFill>
                <a:srgbClr val="343434"/>
              </a:solidFill>
              <a:latin typeface="Public Sans"/>
              <a:ea typeface="Public Sans"/>
              <a:cs typeface="Public Sans"/>
              <a:sym typeface="Public Sans"/>
            </a:endParaRPr>
          </a:p>
          <a:p>
            <a:pPr indent="-393700" lvl="0" marL="457200" rtl="0" algn="l">
              <a:lnSpc>
                <a:spcPct val="140000"/>
              </a:lnSpc>
              <a:spcBef>
                <a:spcPts val="0"/>
              </a:spcBef>
              <a:spcAft>
                <a:spcPts val="0"/>
              </a:spcAft>
              <a:buClr>
                <a:srgbClr val="343434"/>
              </a:buClr>
              <a:buSzPts val="2600"/>
              <a:buFont typeface="Public Sans"/>
              <a:buAutoNum type="arabicPeriod"/>
            </a:pPr>
            <a:r>
              <a:rPr lang="en-US" sz="2600">
                <a:solidFill>
                  <a:srgbClr val="343434"/>
                </a:solidFill>
                <a:latin typeface="Public Sans"/>
                <a:ea typeface="Public Sans"/>
                <a:cs typeface="Public Sans"/>
                <a:sym typeface="Public Sans"/>
              </a:rPr>
              <a:t>Future Studies</a:t>
            </a:r>
            <a:endParaRPr sz="2600">
              <a:solidFill>
                <a:srgbClr val="343434"/>
              </a:solidFill>
              <a:latin typeface="Public Sans"/>
              <a:ea typeface="Public Sans"/>
              <a:cs typeface="Public Sans"/>
              <a:sym typeface="Public Sans"/>
            </a:endParaRPr>
          </a:p>
        </p:txBody>
      </p:sp>
      <p:sp>
        <p:nvSpPr>
          <p:cNvPr id="103" name="Google Shape;103;p2"/>
          <p:cNvSpPr txBox="1"/>
          <p:nvPr/>
        </p:nvSpPr>
        <p:spPr>
          <a:xfrm>
            <a:off x="11246646" y="6659649"/>
            <a:ext cx="81633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04" name="Google Shape;104;p2"/>
          <p:cNvSpPr txBox="1"/>
          <p:nvPr/>
        </p:nvSpPr>
        <p:spPr>
          <a:xfrm>
            <a:off x="10617471" y="7737752"/>
            <a:ext cx="81633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05" name="Google Shape;105;p2"/>
          <p:cNvSpPr txBox="1"/>
          <p:nvPr/>
        </p:nvSpPr>
        <p:spPr>
          <a:xfrm>
            <a:off x="10427568" y="9163651"/>
            <a:ext cx="79725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09" name="Shape 109"/>
        <p:cNvGrpSpPr/>
        <p:nvPr/>
      </p:nvGrpSpPr>
      <p:grpSpPr>
        <a:xfrm>
          <a:off x="0" y="0"/>
          <a:ext cx="0" cy="0"/>
          <a:chOff x="0" y="0"/>
          <a:chExt cx="0" cy="0"/>
        </a:xfrm>
      </p:grpSpPr>
      <p:sp>
        <p:nvSpPr>
          <p:cNvPr id="110" name="Google Shape;110;g31e70d1e1fd_2_0"/>
          <p:cNvSpPr txBox="1"/>
          <p:nvPr/>
        </p:nvSpPr>
        <p:spPr>
          <a:xfrm>
            <a:off x="2495361" y="4238452"/>
            <a:ext cx="13297200" cy="4185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252930"/>
                </a:solidFill>
                <a:latin typeface="Maven Pro"/>
                <a:ea typeface="Maven Pro"/>
                <a:cs typeface="Maven Pro"/>
                <a:sym typeface="Maven Pro"/>
              </a:rPr>
              <a:t>Hospital Efficiency Analysis: Evaluating how well hospitals convert resources utilized (inputs) into patient care results (outputs). The goal is to determine what organizations best offer top-notch medical treatment using the available resources! To achieve this, we will use Data Envelopment Analysis to determine the efficiency.</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rgbClr val="252930"/>
              </a:solidFill>
              <a:latin typeface="Maven Pro"/>
              <a:ea typeface="Maven Pro"/>
              <a:cs typeface="Maven Pro"/>
              <a:sym typeface="Maven Pro"/>
            </a:endParaRPr>
          </a:p>
        </p:txBody>
      </p:sp>
      <p:sp>
        <p:nvSpPr>
          <p:cNvPr id="111" name="Google Shape;111;g31e70d1e1fd_2_0"/>
          <p:cNvSpPr txBox="1"/>
          <p:nvPr/>
        </p:nvSpPr>
        <p:spPr>
          <a:xfrm>
            <a:off x="2999625" y="2095429"/>
            <a:ext cx="12288600" cy="1108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9000"/>
              <a:buFont typeface="Arial"/>
              <a:buNone/>
            </a:pPr>
            <a:r>
              <a:rPr b="1" i="0" lang="en-US" sz="9000" u="none" cap="none" strike="noStrike">
                <a:solidFill>
                  <a:srgbClr val="252930"/>
                </a:solidFill>
                <a:latin typeface="Maven Pro"/>
                <a:ea typeface="Maven Pro"/>
                <a:cs typeface="Maven Pro"/>
                <a:sym typeface="Maven Pro"/>
              </a:rPr>
              <a:t>INTRODUCTION</a:t>
            </a:r>
            <a:endParaRPr b="0" i="0" sz="1400" u="none" cap="none" strike="noStrike">
              <a:solidFill>
                <a:srgbClr val="000000"/>
              </a:solidFill>
              <a:latin typeface="Arial"/>
              <a:ea typeface="Arial"/>
              <a:cs typeface="Arial"/>
              <a:sym typeface="Arial"/>
            </a:endParaRPr>
          </a:p>
        </p:txBody>
      </p:sp>
      <p:sp>
        <p:nvSpPr>
          <p:cNvPr id="112" name="Google Shape;112;g31e70d1e1fd_2_0"/>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16" name="Shape 116"/>
        <p:cNvGrpSpPr/>
        <p:nvPr/>
      </p:nvGrpSpPr>
      <p:grpSpPr>
        <a:xfrm>
          <a:off x="0" y="0"/>
          <a:ext cx="0" cy="0"/>
          <a:chOff x="0" y="0"/>
          <a:chExt cx="0" cy="0"/>
        </a:xfrm>
      </p:grpSpPr>
      <p:sp>
        <p:nvSpPr>
          <p:cNvPr id="117" name="Google Shape;117;p3"/>
          <p:cNvSpPr txBox="1"/>
          <p:nvPr/>
        </p:nvSpPr>
        <p:spPr>
          <a:xfrm>
            <a:off x="1452563" y="553406"/>
            <a:ext cx="15382800" cy="2930700"/>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WHO IS AFFECTED?</a:t>
            </a:r>
            <a:endParaRPr b="0" i="0" sz="1400" u="none" cap="none" strike="noStrike">
              <a:solidFill>
                <a:srgbClr val="000000"/>
              </a:solidFill>
              <a:latin typeface="Arial"/>
              <a:ea typeface="Arial"/>
              <a:cs typeface="Arial"/>
              <a:sym typeface="Arial"/>
            </a:endParaRPr>
          </a:p>
          <a:p>
            <a:pPr indent="0" lvl="0" marL="0" marR="0" rtl="0" algn="ctr">
              <a:lnSpc>
                <a:spcPct val="138000"/>
              </a:lnSpc>
              <a:spcBef>
                <a:spcPts val="0"/>
              </a:spcBef>
              <a:spcAft>
                <a:spcPts val="0"/>
              </a:spcAft>
              <a:buClr>
                <a:srgbClr val="000000"/>
              </a:buClr>
              <a:buSzPts val="8000"/>
              <a:buFont typeface="Arial"/>
              <a:buNone/>
            </a:pPr>
            <a:r>
              <a:t/>
            </a:r>
            <a:endParaRPr b="1" i="1" sz="8000" u="none" cap="none" strike="noStrike">
              <a:solidFill>
                <a:srgbClr val="252D37"/>
              </a:solidFill>
              <a:latin typeface="Maven Pro"/>
              <a:ea typeface="Maven Pro"/>
              <a:cs typeface="Maven Pro"/>
              <a:sym typeface="Maven Pro"/>
            </a:endParaRPr>
          </a:p>
        </p:txBody>
      </p:sp>
      <p:sp>
        <p:nvSpPr>
          <p:cNvPr id="118" name="Google Shape;118;p3"/>
          <p:cNvSpPr txBox="1"/>
          <p:nvPr/>
        </p:nvSpPr>
        <p:spPr>
          <a:xfrm>
            <a:off x="1326426" y="2922367"/>
            <a:ext cx="15828000" cy="55647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Patients: Inefficiencies can lead to longer wait times, delayed treatments, and suboptimal care.</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Healthcare Providers: Inefficiencies can increase workload and job stress, and lawsuits in extreme cases.</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Hospitals: Inefficiencies can impact financial performance and reputation.</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Policymakers </a:t>
            </a:r>
            <a:r>
              <a:rPr lang="en-US" sz="3399">
                <a:solidFill>
                  <a:srgbClr val="252D37"/>
                </a:solidFill>
                <a:latin typeface="Maven Pro"/>
                <a:ea typeface="Maven Pro"/>
                <a:cs typeface="Maven Pro"/>
                <a:sym typeface="Maven Pro"/>
              </a:rPr>
              <a:t>and</a:t>
            </a:r>
            <a:r>
              <a:rPr b="0" i="0" lang="en-US" sz="3399" u="none" cap="none" strike="noStrike">
                <a:solidFill>
                  <a:srgbClr val="252D37"/>
                </a:solidFill>
                <a:latin typeface="Maven Pro"/>
                <a:ea typeface="Maven Pro"/>
                <a:cs typeface="Maven Pro"/>
                <a:sym typeface="Maven Pro"/>
              </a:rPr>
              <a:t> payers</a:t>
            </a:r>
            <a:endParaRPr b="0" i="0" sz="1400" u="none" cap="none" strike="noStrike">
              <a:solidFill>
                <a:srgbClr val="000000"/>
              </a:solidFill>
              <a:latin typeface="Arial"/>
              <a:ea typeface="Arial"/>
              <a:cs typeface="Arial"/>
              <a:sym typeface="Arial"/>
            </a:endParaRPr>
          </a:p>
          <a:p>
            <a:pPr indent="0" lvl="0" marL="0" marR="0" rtl="0" algn="just">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119" name="Google Shape;119;p3"/>
          <p:cNvSpPr/>
          <p:nvPr/>
        </p:nvSpPr>
        <p:spPr>
          <a:xfrm>
            <a:off x="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p:nvPr/>
        </p:nvSpPr>
        <p:spPr>
          <a:xfrm>
            <a:off x="1028700"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3"/>
          <p:cNvSpPr/>
          <p:nvPr/>
        </p:nvSpPr>
        <p:spPr>
          <a:xfrm>
            <a:off x="14354175" y="-12382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25" name="Shape 125"/>
        <p:cNvGrpSpPr/>
        <p:nvPr/>
      </p:nvGrpSpPr>
      <p:grpSpPr>
        <a:xfrm>
          <a:off x="0" y="0"/>
          <a:ext cx="0" cy="0"/>
          <a:chOff x="0" y="0"/>
          <a:chExt cx="0" cy="0"/>
        </a:xfrm>
      </p:grpSpPr>
      <p:sp>
        <p:nvSpPr>
          <p:cNvPr id="126" name="Google Shape;126;p4"/>
          <p:cNvSpPr txBox="1"/>
          <p:nvPr/>
        </p:nvSpPr>
        <p:spPr>
          <a:xfrm>
            <a:off x="1028700" y="1790700"/>
            <a:ext cx="15382800" cy="1231500"/>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WHEN SHOULD THIS BE DONE?</a:t>
            </a:r>
            <a:endParaRPr b="0" i="0" sz="1400" u="none" cap="none" strike="noStrike">
              <a:solidFill>
                <a:srgbClr val="000000"/>
              </a:solidFill>
              <a:latin typeface="Arial"/>
              <a:ea typeface="Arial"/>
              <a:cs typeface="Arial"/>
              <a:sym typeface="Arial"/>
            </a:endParaRPr>
          </a:p>
        </p:txBody>
      </p:sp>
      <p:sp>
        <p:nvSpPr>
          <p:cNvPr id="127" name="Google Shape;127;p4"/>
          <p:cNvSpPr txBox="1"/>
          <p:nvPr/>
        </p:nvSpPr>
        <p:spPr>
          <a:xfrm>
            <a:off x="536379" y="4250973"/>
            <a:ext cx="17215107" cy="2948142"/>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Continuous monitoring and improvement efforts are crucial to maintain high levels of efficiency. </a:t>
            </a:r>
            <a:endParaRPr b="0" i="0" sz="3399" u="none" cap="none" strike="noStrike">
              <a:solidFill>
                <a:srgbClr val="252D37"/>
              </a:solidFill>
              <a:latin typeface="Maven Pro"/>
              <a:ea typeface="Maven Pro"/>
              <a:cs typeface="Maven Pro"/>
              <a:sym typeface="Maven Pro"/>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Regular assessments and data analysis can help identify areas for improvement.</a:t>
            </a:r>
            <a:endParaRPr b="0" i="0" sz="1400" u="none" cap="none" strike="noStrike">
              <a:solidFill>
                <a:srgbClr val="000000"/>
              </a:solidFill>
              <a:latin typeface="Arial"/>
              <a:ea typeface="Arial"/>
              <a:cs typeface="Arial"/>
              <a:sym typeface="Arial"/>
            </a:endParaRPr>
          </a:p>
          <a:p>
            <a:pPr indent="0" lvl="0" marL="0" marR="0" rtl="0" algn="just">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128" name="Google Shape;128;p4"/>
          <p:cNvSpPr/>
          <p:nvPr/>
        </p:nvSpPr>
        <p:spPr>
          <a:xfrm>
            <a:off x="14354175" y="-12382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32" name="Shape 132"/>
        <p:cNvGrpSpPr/>
        <p:nvPr/>
      </p:nvGrpSpPr>
      <p:grpSpPr>
        <a:xfrm>
          <a:off x="0" y="0"/>
          <a:ext cx="0" cy="0"/>
          <a:chOff x="0" y="0"/>
          <a:chExt cx="0" cy="0"/>
        </a:xfrm>
      </p:grpSpPr>
      <p:sp>
        <p:nvSpPr>
          <p:cNvPr id="133" name="Google Shape;133;p5"/>
          <p:cNvSpPr txBox="1"/>
          <p:nvPr/>
        </p:nvSpPr>
        <p:spPr>
          <a:xfrm>
            <a:off x="1028700" y="1065856"/>
            <a:ext cx="15382800" cy="2930700"/>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WHY IS DEA IMPORTANT? </a:t>
            </a:r>
            <a:endParaRPr b="0" i="0" sz="1400" u="none" cap="none" strike="noStrike">
              <a:solidFill>
                <a:srgbClr val="000000"/>
              </a:solidFill>
              <a:latin typeface="Arial"/>
              <a:ea typeface="Arial"/>
              <a:cs typeface="Arial"/>
              <a:sym typeface="Arial"/>
            </a:endParaRPr>
          </a:p>
          <a:p>
            <a:pPr indent="0" lvl="0" marL="0" marR="0" rtl="0" algn="ctr">
              <a:lnSpc>
                <a:spcPct val="138000"/>
              </a:lnSpc>
              <a:spcBef>
                <a:spcPts val="0"/>
              </a:spcBef>
              <a:spcAft>
                <a:spcPts val="0"/>
              </a:spcAft>
              <a:buClr>
                <a:srgbClr val="000000"/>
              </a:buClr>
              <a:buSzPts val="8000"/>
              <a:buFont typeface="Arial"/>
              <a:buNone/>
            </a:pPr>
            <a:r>
              <a:t/>
            </a:r>
            <a:endParaRPr b="1" i="0" sz="8000" u="none" cap="none" strike="noStrike">
              <a:solidFill>
                <a:srgbClr val="252D37"/>
              </a:solidFill>
              <a:latin typeface="Maven Pro"/>
              <a:ea typeface="Maven Pro"/>
              <a:cs typeface="Maven Pro"/>
              <a:sym typeface="Maven Pro"/>
            </a:endParaRPr>
          </a:p>
        </p:txBody>
      </p:sp>
      <p:sp>
        <p:nvSpPr>
          <p:cNvPr id="134" name="Google Shape;134;p5"/>
          <p:cNvSpPr txBox="1"/>
          <p:nvPr/>
        </p:nvSpPr>
        <p:spPr>
          <a:xfrm>
            <a:off x="1028700" y="2786025"/>
            <a:ext cx="15895500" cy="78483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Can perform comprehensive efficiency evaluation of hospitals to measure relative efficiency of decision-making units (DMUs) within a healthcare system.</a:t>
            </a:r>
            <a:endParaRPr b="0" i="0" sz="3399" u="none" cap="none" strike="noStrike">
              <a:solidFill>
                <a:srgbClr val="252D37"/>
              </a:solidFill>
              <a:latin typeface="Maven Pro"/>
              <a:ea typeface="Maven Pro"/>
              <a:cs typeface="Maven Pro"/>
              <a:sym typeface="Maven Pro"/>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Can handle multiple inputs and outputs simultaneously.</a:t>
            </a:r>
            <a:endParaRPr b="0" i="0" sz="3399" u="none" cap="none" strike="noStrike">
              <a:solidFill>
                <a:srgbClr val="252D37"/>
              </a:solidFill>
              <a:latin typeface="Maven Pro"/>
              <a:ea typeface="Maven Pro"/>
              <a:cs typeface="Maven Pro"/>
              <a:sym typeface="Maven Pro"/>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Does not require predetermined assumptions about relationships between inputs and outputs</a:t>
            </a:r>
            <a:endParaRPr b="0" i="0" sz="3399" u="none" cap="none" strike="noStrike">
              <a:solidFill>
                <a:srgbClr val="252D37"/>
              </a:solidFill>
              <a:latin typeface="Maven Pro"/>
              <a:ea typeface="Maven Pro"/>
              <a:cs typeface="Maven Pro"/>
              <a:sym typeface="Maven Pro"/>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Hospital efficiency evaluation</a:t>
            </a:r>
            <a:endParaRPr b="0" i="0" sz="3399" u="none" cap="none" strike="noStrike">
              <a:solidFill>
                <a:srgbClr val="252D37"/>
              </a:solidFill>
              <a:latin typeface="Maven Pro"/>
              <a:ea typeface="Maven Pro"/>
              <a:cs typeface="Maven Pro"/>
              <a:sym typeface="Maven Pro"/>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Hospitals can improve overall performance by identifying and addressing inefficiencies.</a:t>
            </a:r>
            <a:endParaRPr b="0" i="0" sz="3399" u="none" cap="none" strike="noStrike">
              <a:solidFill>
                <a:srgbClr val="252D37"/>
              </a:solidFill>
              <a:latin typeface="Maven Pro"/>
              <a:ea typeface="Maven Pro"/>
              <a:cs typeface="Maven Pro"/>
              <a:sym typeface="Maven Pro"/>
            </a:endParaRPr>
          </a:p>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135" name="Google Shape;135;p5"/>
          <p:cNvSpPr/>
          <p:nvPr/>
        </p:nvSpPr>
        <p:spPr>
          <a:xfrm>
            <a:off x="15562125" y="-201750"/>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39" name="Shape 139"/>
        <p:cNvGrpSpPr/>
        <p:nvPr/>
      </p:nvGrpSpPr>
      <p:grpSpPr>
        <a:xfrm>
          <a:off x="0" y="0"/>
          <a:ext cx="0" cy="0"/>
          <a:chOff x="0" y="0"/>
          <a:chExt cx="0" cy="0"/>
        </a:xfrm>
      </p:grpSpPr>
      <p:sp>
        <p:nvSpPr>
          <p:cNvPr id="140" name="Google Shape;140;p6"/>
          <p:cNvSpPr txBox="1"/>
          <p:nvPr/>
        </p:nvSpPr>
        <p:spPr>
          <a:xfrm>
            <a:off x="0" y="1790700"/>
            <a:ext cx="18001403" cy="2760344"/>
          </a:xfrm>
          <a:prstGeom prst="rect">
            <a:avLst/>
          </a:prstGeom>
          <a:noFill/>
          <a:ln>
            <a:noFill/>
          </a:ln>
        </p:spPr>
        <p:txBody>
          <a:bodyPr anchorCtr="0" anchor="t" bIns="0" lIns="0" spcFirstLastPara="1" rIns="0" wrap="square" tIns="0">
            <a:spAutoFit/>
          </a:bodyPr>
          <a:lstStyle/>
          <a:p>
            <a:pPr indent="0" lvl="0" marL="0" marR="0" rtl="0" algn="ctr">
              <a:lnSpc>
                <a:spcPct val="138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WHERE WAS THE DATA FOUND?</a:t>
            </a:r>
            <a:endParaRPr b="0" i="0" sz="1400" u="none" cap="none" strike="noStrike">
              <a:solidFill>
                <a:srgbClr val="000000"/>
              </a:solidFill>
              <a:latin typeface="Arial"/>
              <a:ea typeface="Arial"/>
              <a:cs typeface="Arial"/>
              <a:sym typeface="Arial"/>
            </a:endParaRPr>
          </a:p>
          <a:p>
            <a:pPr indent="0" lvl="0" marL="0" marR="0" rtl="0" algn="ctr">
              <a:lnSpc>
                <a:spcPct val="138000"/>
              </a:lnSpc>
              <a:spcBef>
                <a:spcPts val="0"/>
              </a:spcBef>
              <a:spcAft>
                <a:spcPts val="0"/>
              </a:spcAft>
              <a:buClr>
                <a:srgbClr val="000000"/>
              </a:buClr>
              <a:buSzPts val="8000"/>
              <a:buFont typeface="Arial"/>
              <a:buNone/>
            </a:pPr>
            <a:r>
              <a:t/>
            </a:r>
            <a:endParaRPr b="1" i="0" sz="8000" u="none" cap="none" strike="noStrike">
              <a:solidFill>
                <a:srgbClr val="252D37"/>
              </a:solidFill>
              <a:latin typeface="Maven Pro"/>
              <a:ea typeface="Maven Pro"/>
              <a:cs typeface="Maven Pro"/>
              <a:sym typeface="Maven Pro"/>
            </a:endParaRPr>
          </a:p>
        </p:txBody>
      </p:sp>
      <p:sp>
        <p:nvSpPr>
          <p:cNvPr id="141" name="Google Shape;141;p6"/>
          <p:cNvSpPr txBox="1"/>
          <p:nvPr/>
        </p:nvSpPr>
        <p:spPr>
          <a:xfrm>
            <a:off x="1553145" y="3914775"/>
            <a:ext cx="14858400" cy="4918200"/>
          </a:xfrm>
          <a:prstGeom prst="rect">
            <a:avLst/>
          </a:prstGeom>
          <a:noFill/>
          <a:ln>
            <a:noFill/>
          </a:ln>
        </p:spPr>
        <p:txBody>
          <a:bodyPr anchorCtr="0" anchor="t" bIns="0" lIns="0" spcFirstLastPara="1" rIns="0" wrap="square" tIns="0">
            <a:spAutoFit/>
          </a:bodyPr>
          <a:lstStyle/>
          <a:p>
            <a:pPr indent="-367029" lvl="1" marL="734058" marR="0" rtl="0" algn="just">
              <a:lnSpc>
                <a:spcPct val="140011"/>
              </a:lnSpc>
              <a:spcBef>
                <a:spcPts val="0"/>
              </a:spcBef>
              <a:spcAft>
                <a:spcPts val="0"/>
              </a:spcAft>
              <a:buClr>
                <a:srgbClr val="252D37"/>
              </a:buClr>
              <a:buSzPts val="3399"/>
              <a:buFont typeface="Arial"/>
              <a:buChar char="•"/>
            </a:pPr>
            <a:r>
              <a:rPr b="0" i="0" lang="en-US" sz="3399" u="none" cap="none" strike="noStrike">
                <a:solidFill>
                  <a:srgbClr val="252D37"/>
                </a:solidFill>
                <a:latin typeface="Maven Pro"/>
                <a:ea typeface="Maven Pro"/>
                <a:cs typeface="Maven Pro"/>
                <a:sym typeface="Maven Pro"/>
              </a:rPr>
              <a:t>The data was found on the following link: </a:t>
            </a:r>
            <a:r>
              <a:rPr b="0" i="0" lang="en-US" sz="3399" u="sng" cap="none" strike="noStrike">
                <a:solidFill>
                  <a:srgbClr val="252D37"/>
                </a:solidFill>
                <a:latin typeface="Maven Pro"/>
                <a:ea typeface="Maven Pro"/>
                <a:cs typeface="Maven Pro"/>
                <a:sym typeface="Maven Pro"/>
                <a:hlinkClick r:id="rId3">
                  <a:extLst>
                    <a:ext uri="{A12FA001-AC4F-418D-AE19-62706E023703}">
                      <ahyp:hlinkClr val="tx"/>
                    </a:ext>
                  </a:extLst>
                </a:hlinkClick>
              </a:rPr>
              <a:t>https://data.cms.gov/</a:t>
            </a:r>
            <a:endParaRPr b="0" i="0" sz="1400" u="none" cap="none" strike="noStrike">
              <a:solidFill>
                <a:srgbClr val="000000"/>
              </a:solidFill>
              <a:latin typeface="Arial"/>
              <a:ea typeface="Arial"/>
              <a:cs typeface="Arial"/>
              <a:sym typeface="Arial"/>
            </a:endParaRPr>
          </a:p>
          <a:p>
            <a:pPr indent="-367028" lvl="1" marL="734057" marR="0" rtl="0" algn="just">
              <a:lnSpc>
                <a:spcPct val="140011"/>
              </a:lnSpc>
              <a:spcBef>
                <a:spcPts val="0"/>
              </a:spcBef>
              <a:spcAft>
                <a:spcPts val="0"/>
              </a:spcAft>
              <a:buClr>
                <a:srgbClr val="252D37"/>
              </a:buClr>
              <a:buSzPts val="3399"/>
              <a:buFont typeface="Arial"/>
              <a:buChar char="•"/>
            </a:pPr>
            <a:r>
              <a:rPr b="0" i="0" lang="en-US" sz="3399" u="none" cap="none" strike="noStrike">
                <a:solidFill>
                  <a:srgbClr val="252D37"/>
                </a:solidFill>
                <a:latin typeface="Maven Pro"/>
                <a:ea typeface="Maven Pro"/>
                <a:cs typeface="Maven Pro"/>
                <a:sym typeface="Maven Pro"/>
              </a:rPr>
              <a:t>Within this link, we were able to narrow down our options of focus by both subject and time-period. We will be focusing on hospital efficiency for the year 2021 and will be focusing on the State Level. </a:t>
            </a:r>
            <a:endParaRPr b="0" i="0" sz="3399" u="none" cap="none" strike="noStrike">
              <a:solidFill>
                <a:srgbClr val="252D37"/>
              </a:solidFill>
              <a:latin typeface="Maven Pro"/>
              <a:ea typeface="Maven Pro"/>
              <a:cs typeface="Maven Pro"/>
              <a:sym typeface="Maven Pro"/>
            </a:endParaRPr>
          </a:p>
          <a:p>
            <a:pPr indent="-367029" lvl="1" marL="734058"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We will be choosing inputs from the dataset to determine the efficiency of the hospitals in Oregon.</a:t>
            </a:r>
            <a:endParaRPr b="0" i="0" sz="3399" u="none" cap="none" strike="noStrike">
              <a:solidFill>
                <a:srgbClr val="252D37"/>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142" name="Google Shape;142;p6"/>
          <p:cNvSpPr/>
          <p:nvPr/>
        </p:nvSpPr>
        <p:spPr>
          <a:xfrm>
            <a:off x="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6"/>
          <p:cNvSpPr/>
          <p:nvPr/>
        </p:nvSpPr>
        <p:spPr>
          <a:xfrm>
            <a:off x="1028700"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 name="Google Shape;144;p6"/>
          <p:cNvSpPr/>
          <p:nvPr/>
        </p:nvSpPr>
        <p:spPr>
          <a:xfrm>
            <a:off x="14354175" y="-12382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48" name="Shape 148"/>
        <p:cNvGrpSpPr/>
        <p:nvPr/>
      </p:nvGrpSpPr>
      <p:grpSpPr>
        <a:xfrm>
          <a:off x="0" y="0"/>
          <a:ext cx="0" cy="0"/>
          <a:chOff x="0" y="0"/>
          <a:chExt cx="0" cy="0"/>
        </a:xfrm>
      </p:grpSpPr>
      <p:sp>
        <p:nvSpPr>
          <p:cNvPr id="149" name="Google Shape;149;p7"/>
          <p:cNvSpPr txBox="1"/>
          <p:nvPr/>
        </p:nvSpPr>
        <p:spPr>
          <a:xfrm>
            <a:off x="3027322" y="307436"/>
            <a:ext cx="11206500" cy="19701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8000"/>
              <a:buFont typeface="Arial"/>
              <a:buNone/>
            </a:pPr>
            <a:r>
              <a:rPr b="1" i="0" lang="en-US" sz="8000" u="none" cap="none" strike="noStrike">
                <a:solidFill>
                  <a:srgbClr val="252930"/>
                </a:solidFill>
                <a:latin typeface="Maven Pro"/>
                <a:ea typeface="Maven Pro"/>
                <a:cs typeface="Maven Pro"/>
                <a:sym typeface="Maven Pro"/>
              </a:rPr>
              <a:t>LITERATURE REVIEW</a:t>
            </a:r>
            <a:endParaRPr b="0" i="0" sz="1400" u="none" cap="none" strike="noStrike">
              <a:solidFill>
                <a:srgbClr val="000000"/>
              </a:solidFill>
              <a:latin typeface="Arial"/>
              <a:ea typeface="Arial"/>
              <a:cs typeface="Arial"/>
              <a:sym typeface="Arial"/>
            </a:endParaRPr>
          </a:p>
          <a:p>
            <a:pPr indent="0" lvl="0" marL="0" marR="0" rtl="0" algn="ctr">
              <a:lnSpc>
                <a:spcPct val="80000"/>
              </a:lnSpc>
              <a:spcBef>
                <a:spcPts val="0"/>
              </a:spcBef>
              <a:spcAft>
                <a:spcPts val="0"/>
              </a:spcAft>
              <a:buClr>
                <a:srgbClr val="000000"/>
              </a:buClr>
              <a:buSzPts val="8000"/>
              <a:buFont typeface="Arial"/>
              <a:buNone/>
            </a:pPr>
            <a:r>
              <a:t/>
            </a:r>
            <a:endParaRPr b="1" i="0" sz="8000" u="none" cap="none" strike="noStrike">
              <a:solidFill>
                <a:srgbClr val="252930"/>
              </a:solidFill>
              <a:latin typeface="Maven Pro"/>
              <a:ea typeface="Maven Pro"/>
              <a:cs typeface="Maven Pro"/>
              <a:sym typeface="Maven Pro"/>
            </a:endParaRPr>
          </a:p>
        </p:txBody>
      </p:sp>
      <p:sp>
        <p:nvSpPr>
          <p:cNvPr id="150" name="Google Shape;150;p7"/>
          <p:cNvSpPr txBox="1"/>
          <p:nvPr/>
        </p:nvSpPr>
        <p:spPr>
          <a:xfrm>
            <a:off x="-230073" y="1391117"/>
            <a:ext cx="17188200" cy="8768100"/>
          </a:xfrm>
          <a:prstGeom prst="rect">
            <a:avLst/>
          </a:prstGeom>
          <a:noFill/>
          <a:ln>
            <a:noFill/>
          </a:ln>
        </p:spPr>
        <p:txBody>
          <a:bodyPr anchorCtr="0" anchor="t" bIns="0" lIns="0" spcFirstLastPara="1" rIns="0" wrap="square" tIns="0">
            <a:spAutoFit/>
          </a:bodyPr>
          <a:lstStyle/>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Objective: Evaluate hospital efficiency by analyzing resource utilization and patient care delivery, contributing to cost-effective, high-quality healthcare.</a:t>
            </a:r>
            <a:endParaRPr b="0" i="0" sz="3200" u="none" cap="none" strike="noStrike">
              <a:solidFill>
                <a:srgbClr val="000000"/>
              </a:solidFill>
              <a:latin typeface="Arial"/>
              <a:ea typeface="Arial"/>
              <a:cs typeface="Arial"/>
              <a:sym typeface="Arial"/>
            </a:endParaRPr>
          </a:p>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Key Studies:</a:t>
            </a:r>
            <a:endParaRPr b="0" i="0" sz="3200" u="none" cap="none" strike="noStrike">
              <a:solidFill>
                <a:srgbClr val="000000"/>
              </a:solidFill>
              <a:latin typeface="Arial"/>
              <a:ea typeface="Arial"/>
              <a:cs typeface="Arial"/>
              <a:sym typeface="Arial"/>
            </a:endParaRPr>
          </a:p>
          <a:p>
            <a:pPr indent="-476736" lvl="2" marL="146811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Friedman &amp; Ruttenberg (1995): Introduced DEA for hospital efficiency.</a:t>
            </a:r>
            <a:endParaRPr b="0" i="0" sz="3200" u="none" cap="none" strike="noStrike">
              <a:solidFill>
                <a:srgbClr val="000000"/>
              </a:solidFill>
              <a:latin typeface="Arial"/>
              <a:ea typeface="Arial"/>
              <a:cs typeface="Arial"/>
              <a:sym typeface="Arial"/>
            </a:endParaRPr>
          </a:p>
          <a:p>
            <a:pPr indent="-476736" lvl="2" marL="146811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Ozcan et al. (2010): Examined trade-offs between efficiency, quality, and cost.</a:t>
            </a:r>
            <a:endParaRPr b="0" i="0" sz="3200" u="none" cap="none" strike="noStrike">
              <a:solidFill>
                <a:srgbClr val="000000"/>
              </a:solidFill>
              <a:latin typeface="Arial"/>
              <a:ea typeface="Arial"/>
              <a:cs typeface="Arial"/>
              <a:sym typeface="Arial"/>
            </a:endParaRPr>
          </a:p>
          <a:p>
            <a:pPr indent="-476736" lvl="2" marL="146811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Wang et al. (2017): Integrated efficiency, quality, and cost in-hospital evaluation.</a:t>
            </a:r>
            <a:endParaRPr b="0" i="0" sz="3200" u="none" cap="none" strike="noStrike">
              <a:solidFill>
                <a:srgbClr val="000000"/>
              </a:solidFill>
              <a:latin typeface="Arial"/>
              <a:ea typeface="Arial"/>
              <a:cs typeface="Arial"/>
              <a:sym typeface="Arial"/>
            </a:endParaRPr>
          </a:p>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Sources: CMS.gov, AHRQ, AHA.</a:t>
            </a:r>
            <a:endParaRPr b="0" i="0" sz="3200" u="none" cap="none" strike="noStrike">
              <a:solidFill>
                <a:srgbClr val="000000"/>
              </a:solidFill>
              <a:latin typeface="Arial"/>
              <a:ea typeface="Arial"/>
              <a:cs typeface="Arial"/>
              <a:sym typeface="Arial"/>
            </a:endParaRPr>
          </a:p>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Tool: R Studio for DEA-based analysis.</a:t>
            </a:r>
            <a:endParaRPr b="0" i="0" sz="3200" u="none" cap="none" strike="noStrike">
              <a:solidFill>
                <a:srgbClr val="000000"/>
              </a:solidFill>
              <a:latin typeface="Arial"/>
              <a:ea typeface="Arial"/>
              <a:cs typeface="Arial"/>
              <a:sym typeface="Arial"/>
            </a:endParaRPr>
          </a:p>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Focus: 2021 data snapshot for contextual relevance.</a:t>
            </a:r>
            <a:endParaRPr b="0" i="0" sz="3200" u="none" cap="none" strike="noStrike">
              <a:solidFill>
                <a:srgbClr val="000000"/>
              </a:solidFill>
              <a:latin typeface="Arial"/>
              <a:ea typeface="Arial"/>
              <a:cs typeface="Arial"/>
              <a:sym typeface="Arial"/>
            </a:endParaRPr>
          </a:p>
          <a:p>
            <a:pPr indent="-354393" lvl="1" marL="73405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Future Considerations:</a:t>
            </a:r>
            <a:endParaRPr b="0" i="0" sz="3200" u="none" cap="none" strike="noStrike">
              <a:solidFill>
                <a:srgbClr val="000000"/>
              </a:solidFill>
              <a:latin typeface="Arial"/>
              <a:ea typeface="Arial"/>
              <a:cs typeface="Arial"/>
              <a:sym typeface="Arial"/>
            </a:endParaRPr>
          </a:p>
          <a:p>
            <a:pPr indent="-476736" lvl="2" marL="146811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Incorporate care quality and geographic disparities.</a:t>
            </a:r>
            <a:endParaRPr b="0" i="0" sz="3200" u="none" cap="none" strike="noStrike">
              <a:solidFill>
                <a:srgbClr val="000000"/>
              </a:solidFill>
              <a:latin typeface="Arial"/>
              <a:ea typeface="Arial"/>
              <a:cs typeface="Arial"/>
              <a:sym typeface="Arial"/>
            </a:endParaRPr>
          </a:p>
          <a:p>
            <a:pPr indent="-476736" lvl="2" marL="1468119"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Policy recommendations to enhance efficiency and resource use.</a:t>
            </a:r>
            <a:endParaRPr b="0" i="0" sz="3200" u="none" cap="none" strike="noStrike">
              <a:solidFill>
                <a:srgbClr val="000000"/>
              </a:solidFill>
              <a:latin typeface="Arial"/>
              <a:ea typeface="Arial"/>
              <a:cs typeface="Arial"/>
              <a:sym typeface="Arial"/>
            </a:endParaRPr>
          </a:p>
          <a:p>
            <a:pPr indent="0" lvl="0" marL="0" marR="0" rtl="0" algn="just">
              <a:lnSpc>
                <a:spcPct val="131803"/>
              </a:lnSpc>
              <a:spcBef>
                <a:spcPts val="0"/>
              </a:spcBef>
              <a:spcAft>
                <a:spcPts val="0"/>
              </a:spcAft>
              <a:buClr>
                <a:srgbClr val="000000"/>
              </a:buClr>
              <a:buSzPts val="3200"/>
              <a:buFont typeface="Arial"/>
              <a:buNone/>
            </a:pPr>
            <a:r>
              <a:t/>
            </a:r>
            <a:endParaRPr b="0" i="0" sz="3200" u="none" cap="none" strike="noStrike">
              <a:solidFill>
                <a:srgbClr val="252930"/>
              </a:solidFill>
              <a:latin typeface="Maven Pro"/>
              <a:ea typeface="Maven Pro"/>
              <a:cs typeface="Maven Pro"/>
              <a:sym typeface="Maven Pro"/>
            </a:endParaRPr>
          </a:p>
        </p:txBody>
      </p:sp>
      <p:sp>
        <p:nvSpPr>
          <p:cNvPr id="151" name="Google Shape;151;p7"/>
          <p:cNvSpPr/>
          <p:nvPr/>
        </p:nvSpPr>
        <p:spPr>
          <a:xfrm>
            <a:off x="17375265" y="7855525"/>
            <a:ext cx="516220" cy="2057400"/>
          </a:xfrm>
          <a:custGeom>
            <a:rect b="b" l="l" r="r" t="t"/>
            <a:pathLst>
              <a:path extrusionOk="0" h="2057400" w="516220">
                <a:moveTo>
                  <a:pt x="0" y="0"/>
                </a:moveTo>
                <a:lnTo>
                  <a:pt x="516221" y="0"/>
                </a:lnTo>
                <a:lnTo>
                  <a:pt x="516221" y="2057400"/>
                </a:lnTo>
                <a:lnTo>
                  <a:pt x="0" y="20574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7"/>
          <p:cNvSpPr/>
          <p:nvPr/>
        </p:nvSpPr>
        <p:spPr>
          <a:xfrm>
            <a:off x="15077725" y="-4855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60" name="Shape 160"/>
        <p:cNvGrpSpPr/>
        <p:nvPr/>
      </p:nvGrpSpPr>
      <p:grpSpPr>
        <a:xfrm>
          <a:off x="0" y="0"/>
          <a:ext cx="0" cy="0"/>
          <a:chOff x="0" y="0"/>
          <a:chExt cx="0" cy="0"/>
        </a:xfrm>
      </p:grpSpPr>
      <p:sp>
        <p:nvSpPr>
          <p:cNvPr id="161" name="Google Shape;161;p8"/>
          <p:cNvSpPr txBox="1"/>
          <p:nvPr/>
        </p:nvSpPr>
        <p:spPr>
          <a:xfrm>
            <a:off x="3902850" y="1639887"/>
            <a:ext cx="11800434" cy="920751"/>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INPUT</a:t>
            </a:r>
            <a:endParaRPr b="0" i="0" sz="1400" u="none" cap="none" strike="noStrike">
              <a:solidFill>
                <a:srgbClr val="000000"/>
              </a:solidFill>
              <a:latin typeface="Arial"/>
              <a:ea typeface="Arial"/>
              <a:cs typeface="Arial"/>
              <a:sym typeface="Arial"/>
            </a:endParaRPr>
          </a:p>
        </p:txBody>
      </p:sp>
      <p:sp>
        <p:nvSpPr>
          <p:cNvPr id="162" name="Google Shape;162;p8"/>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8"/>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8"/>
          <p:cNvSpPr/>
          <p:nvPr/>
        </p:nvSpPr>
        <p:spPr>
          <a:xfrm>
            <a:off x="14542983"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8"/>
          <p:cNvSpPr txBox="1"/>
          <p:nvPr/>
        </p:nvSpPr>
        <p:spPr>
          <a:xfrm>
            <a:off x="1214005" y="3913015"/>
            <a:ext cx="16045295" cy="522579"/>
          </a:xfrm>
          <a:prstGeom prst="rect">
            <a:avLst/>
          </a:prstGeom>
          <a:noFill/>
          <a:ln>
            <a:noFill/>
          </a:ln>
        </p:spPr>
        <p:txBody>
          <a:bodyPr anchorCtr="0" anchor="t" bIns="0" lIns="0" spcFirstLastPara="1" rIns="0" wrap="square" tIns="0">
            <a:spAutoFit/>
          </a:bodyPr>
          <a:lstStyle/>
          <a:p>
            <a:pPr indent="0" lvl="0" marL="0" marR="0" rtl="0" algn="just">
              <a:lnSpc>
                <a:spcPct val="26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8"/>
          <p:cNvSpPr txBox="1"/>
          <p:nvPr/>
        </p:nvSpPr>
        <p:spPr>
          <a:xfrm>
            <a:off x="1316850" y="2649489"/>
            <a:ext cx="16551300" cy="3461400"/>
          </a:xfrm>
          <a:prstGeom prst="rect">
            <a:avLst/>
          </a:prstGeom>
          <a:noFill/>
          <a:ln>
            <a:noFill/>
          </a:ln>
        </p:spPr>
        <p:txBody>
          <a:bodyPr anchorCtr="0" anchor="t" bIns="0" lIns="0" spcFirstLastPara="1" rIns="0" wrap="square" tIns="0">
            <a:spAutoFit/>
          </a:bodyPr>
          <a:lstStyle/>
          <a:p>
            <a:pPr indent="0" lvl="0" marL="0" marR="0" rtl="0" algn="just">
              <a:lnSpc>
                <a:spcPct val="26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just">
              <a:lnSpc>
                <a:spcPct val="23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444500" lvl="0" marL="457200" marR="0" rtl="0" algn="just">
              <a:lnSpc>
                <a:spcPct val="123529"/>
              </a:lnSpc>
              <a:spcBef>
                <a:spcPts val="0"/>
              </a:spcBef>
              <a:spcAft>
                <a:spcPts val="0"/>
              </a:spcAft>
              <a:buClr>
                <a:srgbClr val="252930"/>
              </a:buClr>
              <a:buSzPts val="3400"/>
              <a:buFont typeface="Maven Pro"/>
              <a:buChar char="●"/>
            </a:pPr>
            <a:r>
              <a:rPr b="0" i="0" lang="en-US" sz="3400" u="none" cap="none" strike="noStrike">
                <a:solidFill>
                  <a:srgbClr val="252930"/>
                </a:solidFill>
                <a:latin typeface="Maven Pro"/>
                <a:ea typeface="Maven Pro"/>
                <a:cs typeface="Maven Pro"/>
                <a:sym typeface="Maven Pro"/>
              </a:rPr>
              <a:t>Number of Discharges - reflecting the volume of care provided by the hospital.</a:t>
            </a:r>
            <a:endParaRPr b="0" i="0" sz="1400" u="none" cap="none" strike="noStrike">
              <a:solidFill>
                <a:srgbClr val="000000"/>
              </a:solidFill>
              <a:latin typeface="Arial"/>
              <a:ea typeface="Arial"/>
              <a:cs typeface="Arial"/>
              <a:sym typeface="Arial"/>
            </a:endParaRPr>
          </a:p>
          <a:p>
            <a:pPr indent="-317500" lvl="1" marL="914400" marR="0" rtl="0" algn="just">
              <a:lnSpc>
                <a:spcPct val="123529"/>
              </a:lnSpc>
              <a:spcBef>
                <a:spcPts val="0"/>
              </a:spcBef>
              <a:spcAft>
                <a:spcPts val="0"/>
              </a:spcAft>
              <a:buClr>
                <a:srgbClr val="000000"/>
              </a:buClr>
              <a:buSzPts val="1400"/>
              <a:buFont typeface="Arial"/>
              <a:buChar char="○"/>
            </a:pPr>
            <a:r>
              <a:t/>
            </a:r>
            <a:endParaRPr b="0" i="0" sz="1400" u="none" cap="none" strike="noStrike">
              <a:solidFill>
                <a:srgbClr val="000000"/>
              </a:solidFill>
              <a:latin typeface="Arial"/>
              <a:ea typeface="Arial"/>
              <a:cs typeface="Arial"/>
              <a:sym typeface="Arial"/>
            </a:endParaRPr>
          </a:p>
          <a:p>
            <a:pPr indent="-444500" lvl="0" marL="457200" marR="0" rtl="0" algn="just">
              <a:lnSpc>
                <a:spcPct val="123529"/>
              </a:lnSpc>
              <a:spcBef>
                <a:spcPts val="0"/>
              </a:spcBef>
              <a:spcAft>
                <a:spcPts val="0"/>
              </a:spcAft>
              <a:buClr>
                <a:srgbClr val="252930"/>
              </a:buClr>
              <a:buSzPts val="3400"/>
              <a:buFont typeface="Maven Pro"/>
              <a:buChar char="●"/>
            </a:pPr>
            <a:r>
              <a:rPr b="0" i="0" lang="en-US" sz="3400" u="none" cap="none" strike="noStrike">
                <a:solidFill>
                  <a:srgbClr val="252930"/>
                </a:solidFill>
                <a:latin typeface="Maven Pro"/>
                <a:ea typeface="Maven Pro"/>
                <a:cs typeface="Maven Pro"/>
                <a:sym typeface="Maven Pro"/>
              </a:rPr>
              <a:t>Predicted Readmission Rate - used to understand the predicted strain on hospital resources.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70" name="Shape 170"/>
        <p:cNvGrpSpPr/>
        <p:nvPr/>
      </p:nvGrpSpPr>
      <p:grpSpPr>
        <a:xfrm>
          <a:off x="0" y="0"/>
          <a:ext cx="0" cy="0"/>
          <a:chOff x="0" y="0"/>
          <a:chExt cx="0" cy="0"/>
        </a:xfrm>
      </p:grpSpPr>
      <p:sp>
        <p:nvSpPr>
          <p:cNvPr id="171" name="Google Shape;171;p9"/>
          <p:cNvSpPr txBox="1"/>
          <p:nvPr/>
        </p:nvSpPr>
        <p:spPr>
          <a:xfrm>
            <a:off x="5146398" y="806237"/>
            <a:ext cx="9219300" cy="985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METHODOLOGY </a:t>
            </a:r>
            <a:endParaRPr b="0" i="0" sz="1400" u="none" cap="none" strike="noStrike">
              <a:solidFill>
                <a:srgbClr val="000000"/>
              </a:solidFill>
              <a:latin typeface="Arial"/>
              <a:ea typeface="Arial"/>
              <a:cs typeface="Arial"/>
              <a:sym typeface="Arial"/>
            </a:endParaRPr>
          </a:p>
        </p:txBody>
      </p:sp>
      <p:sp>
        <p:nvSpPr>
          <p:cNvPr id="172" name="Google Shape;172;p9"/>
          <p:cNvSpPr txBox="1"/>
          <p:nvPr/>
        </p:nvSpPr>
        <p:spPr>
          <a:xfrm>
            <a:off x="1542575" y="2239025"/>
            <a:ext cx="15936900" cy="6383400"/>
          </a:xfrm>
          <a:prstGeom prst="rect">
            <a:avLst/>
          </a:prstGeom>
          <a:noFill/>
          <a:ln>
            <a:noFill/>
          </a:ln>
        </p:spPr>
        <p:txBody>
          <a:bodyPr anchorCtr="0" anchor="t" bIns="0" lIns="0" spcFirstLastPara="1" rIns="0" wrap="square" tIns="0">
            <a:spAutoFit/>
          </a:bodyPr>
          <a:lstStyle/>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Data Collection: Gathered data from sources including</a:t>
            </a:r>
            <a:endParaRPr b="0" i="0" sz="1400" u="none" cap="none" strike="noStrike">
              <a:solidFill>
                <a:srgbClr val="000000"/>
              </a:solidFill>
              <a:latin typeface="Arial"/>
              <a:ea typeface="Arial"/>
              <a:cs typeface="Arial"/>
              <a:sym typeface="Arial"/>
            </a:endParaRPr>
          </a:p>
          <a:p>
            <a:pPr indent="-444436" lvl="1" marL="9144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CMS.gov</a:t>
            </a:r>
            <a:endParaRPr b="0" i="0" sz="1400" u="none" cap="none" strike="noStrike">
              <a:solidFill>
                <a:srgbClr val="000000"/>
              </a:solidFill>
              <a:latin typeface="Arial"/>
              <a:ea typeface="Arial"/>
              <a:cs typeface="Arial"/>
              <a:sym typeface="Arial"/>
            </a:endParaRPr>
          </a:p>
          <a:p>
            <a:pPr indent="-444436" lvl="1" marL="9144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Healthcare Market reports</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Merge multiple datasets into one using Python. </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Perform Data Analysis: Using R studio, datasets are analyzed.</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Obtain results and have an in depth discussion. </a:t>
            </a:r>
            <a:endParaRPr b="0" i="0" sz="1400" u="none" cap="none" strike="noStrike">
              <a:solidFill>
                <a:srgbClr val="000000"/>
              </a:solidFill>
              <a:latin typeface="Arial"/>
              <a:ea typeface="Arial"/>
              <a:cs typeface="Arial"/>
              <a:sym typeface="Arial"/>
            </a:endParaRPr>
          </a:p>
          <a:p>
            <a:pPr indent="-444436" lvl="0" marL="457200" marR="0" rtl="0" algn="just">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By conducting this analysis, we can identity the efficiency of each hospital Hospitals that score closer to 1 are doing well whereas further from 1 indicates that they are not doing as well.  </a:t>
            </a:r>
            <a:endParaRPr b="0" i="0" sz="1400" u="none" cap="none" strike="noStrike">
              <a:solidFill>
                <a:srgbClr val="000000"/>
              </a:solidFill>
              <a:latin typeface="Arial"/>
              <a:ea typeface="Arial"/>
              <a:cs typeface="Arial"/>
              <a:sym typeface="Arial"/>
            </a:endParaRPr>
          </a:p>
        </p:txBody>
      </p:sp>
      <p:sp>
        <p:nvSpPr>
          <p:cNvPr id="173" name="Google Shape;173;p9"/>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9"/>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9"/>
          <p:cNvSpPr/>
          <p:nvPr/>
        </p:nvSpPr>
        <p:spPr>
          <a:xfrm>
            <a:off x="14542983"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79" name="Shape 179"/>
        <p:cNvGrpSpPr/>
        <p:nvPr/>
      </p:nvGrpSpPr>
      <p:grpSpPr>
        <a:xfrm>
          <a:off x="0" y="0"/>
          <a:ext cx="0" cy="0"/>
          <a:chOff x="0" y="0"/>
          <a:chExt cx="0" cy="0"/>
        </a:xfrm>
      </p:grpSpPr>
      <p:sp>
        <p:nvSpPr>
          <p:cNvPr id="180" name="Google Shape;180;p10"/>
          <p:cNvSpPr txBox="1"/>
          <p:nvPr/>
        </p:nvSpPr>
        <p:spPr>
          <a:xfrm>
            <a:off x="1214005" y="3913015"/>
            <a:ext cx="16045200" cy="215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0"/>
          <p:cNvSpPr txBox="1"/>
          <p:nvPr/>
        </p:nvSpPr>
        <p:spPr>
          <a:xfrm>
            <a:off x="5323669" y="1780314"/>
            <a:ext cx="7640700" cy="1725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0"/>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10"/>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10"/>
          <p:cNvSpPr/>
          <p:nvPr/>
        </p:nvSpPr>
        <p:spPr>
          <a:xfrm rot="5400000">
            <a:off x="15972490" y="900019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0"/>
          <p:cNvSpPr txBox="1"/>
          <p:nvPr/>
        </p:nvSpPr>
        <p:spPr>
          <a:xfrm>
            <a:off x="1214000" y="3308650"/>
            <a:ext cx="15644700" cy="4580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600"/>
              </a:spcBef>
              <a:spcAft>
                <a:spcPts val="0"/>
              </a:spcAft>
              <a:buClr>
                <a:schemeClr val="dk1"/>
              </a:buClr>
              <a:buSzPts val="2800"/>
              <a:buFont typeface="Roboto"/>
              <a:buAutoNum type="arabicPeriod"/>
            </a:pPr>
            <a:r>
              <a:rPr b="0" i="0" lang="en-US" sz="2800" u="none" cap="none" strike="noStrike">
                <a:solidFill>
                  <a:schemeClr val="dk1"/>
                </a:solidFill>
                <a:latin typeface="Roboto"/>
                <a:ea typeface="Roboto"/>
                <a:cs typeface="Roboto"/>
                <a:sym typeface="Roboto"/>
              </a:rPr>
              <a:t>Read and clean the hospital data, filtering for the specific measure "READM-30-AMI-HRRP" (30-day readmission rate).</a:t>
            </a:r>
            <a:endParaRPr b="0" i="0" sz="2800" u="none" cap="none" strike="noStrike">
              <a:solidFill>
                <a:schemeClr val="dk1"/>
              </a:solidFill>
              <a:latin typeface="Roboto"/>
              <a:ea typeface="Roboto"/>
              <a:cs typeface="Roboto"/>
              <a:sym typeface="Roboto"/>
            </a:endParaRPr>
          </a:p>
          <a:p>
            <a:pPr indent="-400050" lvl="0" marL="457200" marR="0" rtl="0" algn="l">
              <a:lnSpc>
                <a:spcPct val="115000"/>
              </a:lnSpc>
              <a:spcBef>
                <a:spcPts val="0"/>
              </a:spcBef>
              <a:spcAft>
                <a:spcPts val="0"/>
              </a:spcAft>
              <a:buClr>
                <a:schemeClr val="dk1"/>
              </a:buClr>
              <a:buSzPts val="2700"/>
              <a:buFont typeface="Roboto"/>
              <a:buAutoNum type="arabicPeriod"/>
            </a:pPr>
            <a:r>
              <a:rPr b="0" i="0" lang="en-US" sz="2800" u="none" cap="none" strike="noStrike">
                <a:solidFill>
                  <a:schemeClr val="dk1"/>
                </a:solidFill>
                <a:latin typeface="Roboto"/>
                <a:ea typeface="Roboto"/>
                <a:cs typeface="Roboto"/>
                <a:sym typeface="Roboto"/>
              </a:rPr>
              <a:t>DEA Model Setup: ompr package is used to set up a linear programming model for each hospital (Decision Making Unit or DMU).</a:t>
            </a:r>
            <a:endParaRPr b="0" i="0" sz="2800" u="none" cap="none" strike="noStrike">
              <a:solidFill>
                <a:schemeClr val="dk1"/>
              </a:solidFill>
              <a:latin typeface="Roboto"/>
              <a:ea typeface="Roboto"/>
              <a:cs typeface="Roboto"/>
              <a:sym typeface="Roboto"/>
            </a:endParaRPr>
          </a:p>
          <a:p>
            <a:pPr indent="-406400" lvl="0" marL="457200" marR="0" rtl="0" algn="l">
              <a:lnSpc>
                <a:spcPct val="115000"/>
              </a:lnSpc>
              <a:spcBef>
                <a:spcPts val="0"/>
              </a:spcBef>
              <a:spcAft>
                <a:spcPts val="0"/>
              </a:spcAft>
              <a:buClr>
                <a:schemeClr val="dk1"/>
              </a:buClr>
              <a:buSzPts val="2800"/>
              <a:buFont typeface="Roboto"/>
              <a:buAutoNum type="arabicPeriod"/>
            </a:pPr>
            <a:r>
              <a:rPr b="0" i="0" lang="en-US" sz="2800" u="none" cap="none" strike="noStrike">
                <a:solidFill>
                  <a:schemeClr val="dk1"/>
                </a:solidFill>
                <a:latin typeface="Roboto"/>
                <a:ea typeface="Roboto"/>
                <a:cs typeface="Roboto"/>
                <a:sym typeface="Roboto"/>
              </a:rPr>
              <a:t>This model uses an input-oriented approach, focusing on minimizing inputs for a given level of output.</a:t>
            </a:r>
            <a:endParaRPr b="0" i="0" sz="2800" u="none" cap="none" strike="noStrike">
              <a:solidFill>
                <a:schemeClr val="dk1"/>
              </a:solidFill>
              <a:latin typeface="Roboto"/>
              <a:ea typeface="Roboto"/>
              <a:cs typeface="Roboto"/>
              <a:sym typeface="Roboto"/>
            </a:endParaRPr>
          </a:p>
          <a:p>
            <a:pPr indent="-406400" lvl="0" marL="457200" marR="0" rtl="0" algn="l">
              <a:lnSpc>
                <a:spcPct val="115000"/>
              </a:lnSpc>
              <a:spcBef>
                <a:spcPts val="0"/>
              </a:spcBef>
              <a:spcAft>
                <a:spcPts val="0"/>
              </a:spcAft>
              <a:buClr>
                <a:schemeClr val="dk1"/>
              </a:buClr>
              <a:buSzPts val="2800"/>
              <a:buFont typeface="Roboto"/>
              <a:buAutoNum type="arabicPeriod"/>
            </a:pPr>
            <a:r>
              <a:rPr b="0" i="0" lang="en-US" sz="2800" u="none" cap="none" strike="noStrike">
                <a:solidFill>
                  <a:schemeClr val="dk1"/>
                </a:solidFill>
                <a:latin typeface="Roboto"/>
                <a:ea typeface="Roboto"/>
                <a:cs typeface="Roboto"/>
                <a:sym typeface="Roboto"/>
              </a:rPr>
              <a:t>Efficiency Calculation: For each hospital, the model:</a:t>
            </a:r>
            <a:endParaRPr b="0" i="0" sz="2800" u="none" cap="none" strike="noStrike">
              <a:solidFill>
                <a:schemeClr val="dk1"/>
              </a:solidFill>
              <a:latin typeface="Roboto"/>
              <a:ea typeface="Roboto"/>
              <a:cs typeface="Roboto"/>
              <a:sym typeface="Roboto"/>
            </a:endParaRPr>
          </a:p>
          <a:p>
            <a:pPr indent="-406400" lvl="1" marL="914400" marR="0" rtl="0" algn="l">
              <a:lnSpc>
                <a:spcPct val="115000"/>
              </a:lnSpc>
              <a:spcBef>
                <a:spcPts val="0"/>
              </a:spcBef>
              <a:spcAft>
                <a:spcPts val="0"/>
              </a:spcAft>
              <a:buClr>
                <a:schemeClr val="dk1"/>
              </a:buClr>
              <a:buSzPts val="2800"/>
              <a:buFont typeface="Roboto"/>
              <a:buChar char="●"/>
            </a:pPr>
            <a:r>
              <a:rPr b="0" i="0" lang="en-US" sz="2800" u="none" cap="none" strike="noStrike">
                <a:solidFill>
                  <a:schemeClr val="dk1"/>
                </a:solidFill>
                <a:latin typeface="Roboto"/>
                <a:ea typeface="Roboto"/>
                <a:cs typeface="Roboto"/>
                <a:sym typeface="Roboto"/>
              </a:rPr>
              <a:t>Uses Constant Returns to Scale (CRS) method and Variable Returns to Scale (VRS)</a:t>
            </a:r>
            <a:endParaRPr b="0" i="0" sz="2800" u="none" cap="none" strike="noStrike">
              <a:solidFill>
                <a:schemeClr val="dk1"/>
              </a:solidFill>
              <a:latin typeface="Roboto"/>
              <a:ea typeface="Roboto"/>
              <a:cs typeface="Roboto"/>
              <a:sym typeface="Roboto"/>
            </a:endParaRPr>
          </a:p>
          <a:p>
            <a:pPr indent="-406400" lvl="1" marL="914400" marR="0" rtl="0" algn="l">
              <a:lnSpc>
                <a:spcPct val="115000"/>
              </a:lnSpc>
              <a:spcBef>
                <a:spcPts val="0"/>
              </a:spcBef>
              <a:spcAft>
                <a:spcPts val="0"/>
              </a:spcAft>
              <a:buClr>
                <a:schemeClr val="dk1"/>
              </a:buClr>
              <a:buSzPts val="2800"/>
              <a:buFont typeface="Roboto"/>
              <a:buChar char="●"/>
            </a:pPr>
            <a:r>
              <a:rPr b="0" i="0" lang="en-US" sz="2800" u="none" cap="none" strike="noStrike">
                <a:solidFill>
                  <a:schemeClr val="dk1"/>
                </a:solidFill>
                <a:latin typeface="Roboto"/>
                <a:ea typeface="Roboto"/>
                <a:cs typeface="Roboto"/>
                <a:sym typeface="Roboto"/>
              </a:rPr>
              <a:t>Constrains the weighted sum of inputs and outputs of all hospitals</a:t>
            </a:r>
            <a:endParaRPr b="0" i="0" sz="1300" u="none" cap="none" strike="noStrike">
              <a:solidFill>
                <a:schemeClr val="dk1"/>
              </a:solidFill>
              <a:latin typeface="Roboto"/>
              <a:ea typeface="Roboto"/>
              <a:cs typeface="Roboto"/>
              <a:sym typeface="Roboto"/>
            </a:endParaRPr>
          </a:p>
        </p:txBody>
      </p:sp>
      <p:sp>
        <p:nvSpPr>
          <p:cNvPr id="186" name="Google Shape;186;p10"/>
          <p:cNvSpPr txBox="1"/>
          <p:nvPr/>
        </p:nvSpPr>
        <p:spPr>
          <a:xfrm>
            <a:off x="4626948" y="1273837"/>
            <a:ext cx="9219300" cy="985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METHODOLOGY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194" name="Shape 194"/>
        <p:cNvGrpSpPr/>
        <p:nvPr/>
      </p:nvGrpSpPr>
      <p:grpSpPr>
        <a:xfrm>
          <a:off x="0" y="0"/>
          <a:ext cx="0" cy="0"/>
          <a:chOff x="0" y="0"/>
          <a:chExt cx="0" cy="0"/>
        </a:xfrm>
      </p:grpSpPr>
      <p:sp>
        <p:nvSpPr>
          <p:cNvPr id="195" name="Google Shape;195;p11"/>
          <p:cNvSpPr txBox="1"/>
          <p:nvPr/>
        </p:nvSpPr>
        <p:spPr>
          <a:xfrm>
            <a:off x="5099223" y="1639887"/>
            <a:ext cx="9219314" cy="920751"/>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8000"/>
              <a:buFont typeface="Arial"/>
              <a:buNone/>
            </a:pPr>
            <a:r>
              <a:rPr b="1" i="0" lang="en-US" sz="8000" u="none" cap="none" strike="noStrike">
                <a:solidFill>
                  <a:srgbClr val="252D37"/>
                </a:solidFill>
                <a:latin typeface="Maven Pro"/>
                <a:ea typeface="Maven Pro"/>
                <a:cs typeface="Maven Pro"/>
                <a:sym typeface="Maven Pro"/>
              </a:rPr>
              <a:t>OUTPUT</a:t>
            </a:r>
            <a:endParaRPr b="0" i="0" sz="1400" u="none" cap="none" strike="noStrike">
              <a:solidFill>
                <a:srgbClr val="000000"/>
              </a:solidFill>
              <a:latin typeface="Arial"/>
              <a:ea typeface="Arial"/>
              <a:cs typeface="Arial"/>
              <a:sym typeface="Arial"/>
            </a:endParaRPr>
          </a:p>
        </p:txBody>
      </p:sp>
      <p:sp>
        <p:nvSpPr>
          <p:cNvPr id="196" name="Google Shape;196;p11"/>
          <p:cNvSpPr txBox="1"/>
          <p:nvPr/>
        </p:nvSpPr>
        <p:spPr>
          <a:xfrm>
            <a:off x="1322375" y="3136751"/>
            <a:ext cx="15936900" cy="487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600"/>
              </a:spcBef>
              <a:spcAft>
                <a:spcPts val="0"/>
              </a:spcAft>
              <a:buClr>
                <a:srgbClr val="000000"/>
              </a:buClr>
              <a:buSzPts val="2800"/>
              <a:buFont typeface="Arial"/>
              <a:buNone/>
            </a:pPr>
            <a:r>
              <a:rPr b="0" i="0" lang="en-US" sz="2800" u="none" cap="none" strike="noStrike">
                <a:solidFill>
                  <a:schemeClr val="dk1"/>
                </a:solidFill>
                <a:latin typeface="Roboto"/>
                <a:ea typeface="Roboto"/>
                <a:cs typeface="Roboto"/>
                <a:sym typeface="Roboto"/>
              </a:rPr>
              <a:t>The code calculates:</a:t>
            </a:r>
            <a:endParaRPr b="0" i="0" sz="2800" u="none" cap="none" strike="noStrike">
              <a:solidFill>
                <a:schemeClr val="dk1"/>
              </a:solidFill>
              <a:latin typeface="Roboto"/>
              <a:ea typeface="Roboto"/>
              <a:cs typeface="Roboto"/>
              <a:sym typeface="Roboto"/>
            </a:endParaRPr>
          </a:p>
          <a:p>
            <a:pPr indent="-406400" lvl="0" marL="457200" marR="0" rtl="0" algn="l">
              <a:lnSpc>
                <a:spcPct val="115000"/>
              </a:lnSpc>
              <a:spcBef>
                <a:spcPts val="600"/>
              </a:spcBef>
              <a:spcAft>
                <a:spcPts val="0"/>
              </a:spcAft>
              <a:buClr>
                <a:schemeClr val="dk1"/>
              </a:buClr>
              <a:buSzPts val="2800"/>
              <a:buFont typeface="Roboto"/>
              <a:buChar char="●"/>
            </a:pPr>
            <a:r>
              <a:rPr b="0" i="0" lang="en-US" sz="2800" u="none" cap="none" strike="noStrike">
                <a:solidFill>
                  <a:schemeClr val="dk1"/>
                </a:solidFill>
                <a:latin typeface="Roboto"/>
                <a:ea typeface="Roboto"/>
                <a:cs typeface="Roboto"/>
                <a:sym typeface="Roboto"/>
              </a:rPr>
              <a:t>Efficiency scores for each hospital </a:t>
            </a:r>
            <a:endParaRPr b="0" i="0" sz="2800" u="none" cap="none" strike="noStrike">
              <a:solidFill>
                <a:schemeClr val="dk1"/>
              </a:solidFill>
              <a:latin typeface="Roboto"/>
              <a:ea typeface="Roboto"/>
              <a:cs typeface="Roboto"/>
              <a:sym typeface="Roboto"/>
            </a:endParaRPr>
          </a:p>
          <a:p>
            <a:pPr indent="-406400" lvl="0" marL="457200" marR="0" rtl="0" algn="l">
              <a:lnSpc>
                <a:spcPct val="115000"/>
              </a:lnSpc>
              <a:spcBef>
                <a:spcPts val="0"/>
              </a:spcBef>
              <a:spcAft>
                <a:spcPts val="0"/>
              </a:spcAft>
              <a:buClr>
                <a:schemeClr val="dk1"/>
              </a:buClr>
              <a:buSzPts val="2800"/>
              <a:buFont typeface="Roboto"/>
              <a:buChar char="●"/>
            </a:pPr>
            <a:r>
              <a:rPr b="0" i="0" lang="en-US" sz="2800" u="none" cap="none" strike="noStrike">
                <a:solidFill>
                  <a:schemeClr val="dk1"/>
                </a:solidFill>
                <a:latin typeface="Roboto"/>
                <a:ea typeface="Roboto"/>
                <a:cs typeface="Roboto"/>
                <a:sym typeface="Roboto"/>
              </a:rPr>
              <a:t>Lambda values, which represent the weights of peer hospitals forming the efficiency frontier</a:t>
            </a:r>
            <a:endParaRPr b="0" i="0" sz="2800" u="none" cap="none" strike="noStrike">
              <a:solidFill>
                <a:schemeClr val="dk1"/>
              </a:solidFill>
              <a:latin typeface="Roboto"/>
              <a:ea typeface="Roboto"/>
              <a:cs typeface="Roboto"/>
              <a:sym typeface="Roboto"/>
            </a:endParaRPr>
          </a:p>
          <a:p>
            <a:pPr indent="-406400" lvl="0" marL="457200" marR="0" rtl="0" algn="l">
              <a:lnSpc>
                <a:spcPct val="115000"/>
              </a:lnSpc>
              <a:spcBef>
                <a:spcPts val="0"/>
              </a:spcBef>
              <a:spcAft>
                <a:spcPts val="0"/>
              </a:spcAft>
              <a:buClr>
                <a:schemeClr val="dk1"/>
              </a:buClr>
              <a:buSzPts val="2800"/>
              <a:buFont typeface="Roboto"/>
              <a:buChar char="●"/>
            </a:pPr>
            <a:r>
              <a:rPr b="0" i="0" lang="en-US" sz="2800" u="none" cap="none" strike="noStrike">
                <a:solidFill>
                  <a:schemeClr val="dk1"/>
                </a:solidFill>
                <a:latin typeface="Roboto"/>
                <a:ea typeface="Roboto"/>
                <a:cs typeface="Roboto"/>
                <a:sym typeface="Roboto"/>
              </a:rPr>
              <a:t>Hypothesis: Facilities with low readmission rates, high discharge numbers, low complication rates, and efficient resource utilization are expected to demonstrate higher operational efficiency.</a:t>
            </a:r>
            <a:endParaRPr b="0" i="0" sz="2800" u="none" cap="none" strike="noStrike">
              <a:solidFill>
                <a:schemeClr val="dk1"/>
              </a:solidFill>
              <a:latin typeface="Roboto"/>
              <a:ea typeface="Roboto"/>
              <a:cs typeface="Roboto"/>
              <a:sym typeface="Roboto"/>
            </a:endParaRPr>
          </a:p>
          <a:p>
            <a:pPr indent="0" lvl="0" marL="0" marR="0" rtl="0" algn="l">
              <a:lnSpc>
                <a:spcPct val="115000"/>
              </a:lnSpc>
              <a:spcBef>
                <a:spcPts val="600"/>
              </a:spcBef>
              <a:spcAft>
                <a:spcPts val="0"/>
              </a:spcAft>
              <a:buClr>
                <a:schemeClr val="dk1"/>
              </a:buClr>
              <a:buSzPts val="1100"/>
              <a:buFont typeface="Arial"/>
              <a:buNone/>
            </a:pPr>
            <a:r>
              <a:t/>
            </a:r>
            <a:endParaRPr b="0" i="0" sz="2800" u="none" cap="none" strike="noStrike">
              <a:solidFill>
                <a:schemeClr val="dk1"/>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2800"/>
              <a:buFont typeface="Arial"/>
              <a:buNone/>
            </a:pPr>
            <a:r>
              <a:t/>
            </a:r>
            <a:endParaRPr b="0" i="0" sz="2800" u="none" cap="none" strike="noStrike">
              <a:solidFill>
                <a:schemeClr val="dk1"/>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2800"/>
              <a:buFont typeface="Arial"/>
              <a:buNone/>
            </a:pPr>
            <a:r>
              <a:t/>
            </a:r>
            <a:endParaRPr b="0" i="0" sz="2800" u="none" cap="none" strike="noStrike">
              <a:solidFill>
                <a:schemeClr val="dk1"/>
              </a:solidFill>
              <a:latin typeface="Roboto"/>
              <a:ea typeface="Roboto"/>
              <a:cs typeface="Roboto"/>
              <a:sym typeface="Roboto"/>
            </a:endParaRPr>
          </a:p>
          <a:p>
            <a:pPr indent="-151193" lvl="1" marL="734059" marR="0" rtl="0" algn="just">
              <a:lnSpc>
                <a:spcPct val="140011"/>
              </a:lnSpc>
              <a:spcBef>
                <a:spcPts val="600"/>
              </a:spcBef>
              <a:spcAft>
                <a:spcPts val="0"/>
              </a:spcAft>
              <a:buClr>
                <a:schemeClr val="dk1"/>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197" name="Google Shape;197;p11"/>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p11"/>
          <p:cNvSpPr/>
          <p:nvPr/>
        </p:nvSpPr>
        <p:spPr>
          <a:xfrm>
            <a:off x="14542983"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06" name="Shape 206"/>
        <p:cNvGrpSpPr/>
        <p:nvPr/>
      </p:nvGrpSpPr>
      <p:grpSpPr>
        <a:xfrm>
          <a:off x="0" y="0"/>
          <a:ext cx="0" cy="0"/>
          <a:chOff x="0" y="0"/>
          <a:chExt cx="0" cy="0"/>
        </a:xfrm>
      </p:grpSpPr>
      <p:sp>
        <p:nvSpPr>
          <p:cNvPr id="207" name="Google Shape;207;p12"/>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12"/>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12"/>
          <p:cNvSpPr/>
          <p:nvPr/>
        </p:nvSpPr>
        <p:spPr>
          <a:xfrm>
            <a:off x="14542983"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10" name="Google Shape;210;p12"/>
          <p:cNvPicPr preferRelativeResize="0"/>
          <p:nvPr/>
        </p:nvPicPr>
        <p:blipFill rotWithShape="1">
          <a:blip r:embed="rId6">
            <a:alphaModFix/>
          </a:blip>
          <a:srcRect b="0" l="0" r="0" t="0"/>
          <a:stretch/>
        </p:blipFill>
        <p:spPr>
          <a:xfrm>
            <a:off x="1905850" y="2762263"/>
            <a:ext cx="13806136" cy="47624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14" name="Shape 214"/>
        <p:cNvGrpSpPr/>
        <p:nvPr/>
      </p:nvGrpSpPr>
      <p:grpSpPr>
        <a:xfrm>
          <a:off x="0" y="0"/>
          <a:ext cx="0" cy="0"/>
          <a:chOff x="0" y="0"/>
          <a:chExt cx="0" cy="0"/>
        </a:xfrm>
      </p:grpSpPr>
      <p:sp>
        <p:nvSpPr>
          <p:cNvPr id="215" name="Google Shape;215;p13"/>
          <p:cNvSpPr txBox="1"/>
          <p:nvPr/>
        </p:nvSpPr>
        <p:spPr>
          <a:xfrm>
            <a:off x="5497800" y="803125"/>
            <a:ext cx="11761500" cy="16974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2199"/>
              <a:buFont typeface="Arial"/>
              <a:buNone/>
            </a:pPr>
            <a:r>
              <a:rPr b="0" i="0" lang="en-US" sz="2199" u="none" cap="none" strike="noStrike">
                <a:solidFill>
                  <a:srgbClr val="252930"/>
                </a:solidFill>
                <a:latin typeface="Maven Pro"/>
                <a:ea typeface="Maven Pro"/>
                <a:cs typeface="Maven Pro"/>
                <a:sym typeface="Maven Pro"/>
              </a:rPr>
              <a:t>Sample screenshot of hospitals which had good efficiency.</a:t>
            </a:r>
            <a:endParaRPr b="0" i="0" sz="2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p:txBody>
      </p:sp>
      <p:sp>
        <p:nvSpPr>
          <p:cNvPr id="216" name="Google Shape;216;p13"/>
          <p:cNvSpPr txBox="1"/>
          <p:nvPr/>
        </p:nvSpPr>
        <p:spPr>
          <a:xfrm>
            <a:off x="5323644" y="152389"/>
            <a:ext cx="7640700" cy="5049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4100"/>
              <a:buFont typeface="Arial"/>
              <a:buNone/>
            </a:pPr>
            <a:r>
              <a:rPr b="1" i="0" lang="en-US" sz="4100" u="none" cap="none" strike="noStrike">
                <a:solidFill>
                  <a:srgbClr val="252930"/>
                </a:solidFill>
                <a:latin typeface="Maven Pro"/>
                <a:ea typeface="Maven Pro"/>
                <a:cs typeface="Maven Pro"/>
                <a:sym typeface="Maven Pro"/>
              </a:rPr>
              <a:t>RESULTS</a:t>
            </a:r>
            <a:endParaRPr b="0" i="0" sz="100" u="none" cap="none" strike="noStrike">
              <a:solidFill>
                <a:srgbClr val="000000"/>
              </a:solidFill>
              <a:latin typeface="Arial"/>
              <a:ea typeface="Arial"/>
              <a:cs typeface="Arial"/>
              <a:sym typeface="Arial"/>
            </a:endParaRPr>
          </a:p>
        </p:txBody>
      </p:sp>
      <p:sp>
        <p:nvSpPr>
          <p:cNvPr id="217" name="Google Shape;217;p13"/>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13"/>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13"/>
          <p:cNvSpPr/>
          <p:nvPr/>
        </p:nvSpPr>
        <p:spPr>
          <a:xfrm rot="5400000">
            <a:off x="15972490" y="900019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20" name="Google Shape;220;p13"/>
          <p:cNvGraphicFramePr/>
          <p:nvPr/>
        </p:nvGraphicFramePr>
        <p:xfrm>
          <a:off x="152400" y="152400"/>
          <a:ext cx="3000000" cy="3000000"/>
        </p:xfrm>
        <a:graphic>
          <a:graphicData uri="http://schemas.openxmlformats.org/drawingml/2006/table">
            <a:tbl>
              <a:tblPr>
                <a:solidFill>
                  <a:srgbClr val="FFFFFF"/>
                </a:solidFill>
                <a:tableStyleId>{1025651A-9524-48F9-A490-1E65C2EF8FEB}</a:tableStyleId>
              </a:tblPr>
              <a:tblGrid>
                <a:gridCol w="114300"/>
              </a:tblGrid>
              <a:tr h="38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57150" marL="57150"/>
                </a:tc>
              </a:tr>
            </a:tbl>
          </a:graphicData>
        </a:graphic>
      </p:graphicFrame>
      <p:pic>
        <p:nvPicPr>
          <p:cNvPr id="221" name="Google Shape;221;p13"/>
          <p:cNvPicPr preferRelativeResize="0"/>
          <p:nvPr/>
        </p:nvPicPr>
        <p:blipFill>
          <a:blip r:embed="rId6">
            <a:alphaModFix/>
          </a:blip>
          <a:stretch>
            <a:fillRect/>
          </a:stretch>
        </p:blipFill>
        <p:spPr>
          <a:xfrm>
            <a:off x="5818625" y="1240950"/>
            <a:ext cx="8432174" cy="8904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25" name="Shape 225"/>
        <p:cNvGrpSpPr/>
        <p:nvPr/>
      </p:nvGrpSpPr>
      <p:grpSpPr>
        <a:xfrm>
          <a:off x="0" y="0"/>
          <a:ext cx="0" cy="0"/>
          <a:chOff x="0" y="0"/>
          <a:chExt cx="0" cy="0"/>
        </a:xfrm>
      </p:grpSpPr>
      <p:sp>
        <p:nvSpPr>
          <p:cNvPr id="226" name="Google Shape;226;g31e70d1e1fd_4_7"/>
          <p:cNvSpPr txBox="1"/>
          <p:nvPr/>
        </p:nvSpPr>
        <p:spPr>
          <a:xfrm>
            <a:off x="5323644" y="152389"/>
            <a:ext cx="7640700" cy="5049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4100"/>
              <a:buFont typeface="Arial"/>
              <a:buNone/>
            </a:pPr>
            <a:r>
              <a:rPr b="1" i="0" lang="en-US" sz="4100" u="none" cap="none" strike="noStrike">
                <a:solidFill>
                  <a:srgbClr val="252930"/>
                </a:solidFill>
                <a:latin typeface="Maven Pro"/>
                <a:ea typeface="Maven Pro"/>
                <a:cs typeface="Maven Pro"/>
                <a:sym typeface="Maven Pro"/>
              </a:rPr>
              <a:t>RESULTS</a:t>
            </a:r>
            <a:endParaRPr b="0" i="0" sz="100" u="none" cap="none" strike="noStrike">
              <a:solidFill>
                <a:srgbClr val="000000"/>
              </a:solidFill>
              <a:latin typeface="Arial"/>
              <a:ea typeface="Arial"/>
              <a:cs typeface="Arial"/>
              <a:sym typeface="Arial"/>
            </a:endParaRPr>
          </a:p>
        </p:txBody>
      </p:sp>
      <p:sp>
        <p:nvSpPr>
          <p:cNvPr id="227" name="Google Shape;227;g31e70d1e1fd_4_7"/>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g31e70d1e1fd_4_7"/>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g31e70d1e1fd_4_7"/>
          <p:cNvSpPr/>
          <p:nvPr/>
        </p:nvSpPr>
        <p:spPr>
          <a:xfrm rot="5400000">
            <a:off x="15972490" y="900019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30" name="Google Shape;230;g31e70d1e1fd_4_7"/>
          <p:cNvGraphicFramePr/>
          <p:nvPr/>
        </p:nvGraphicFramePr>
        <p:xfrm>
          <a:off x="152400" y="152400"/>
          <a:ext cx="3000000" cy="3000000"/>
        </p:xfrm>
        <a:graphic>
          <a:graphicData uri="http://schemas.openxmlformats.org/drawingml/2006/table">
            <a:tbl>
              <a:tblPr>
                <a:solidFill>
                  <a:srgbClr val="FFFFFF"/>
                </a:solidFill>
                <a:tableStyleId>{1025651A-9524-48F9-A490-1E65C2EF8FEB}</a:tableStyleId>
              </a:tblPr>
              <a:tblGrid>
                <a:gridCol w="114300"/>
              </a:tblGrid>
              <a:tr h="38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57150" marL="57150"/>
                </a:tc>
              </a:tr>
            </a:tbl>
          </a:graphicData>
        </a:graphic>
      </p:graphicFrame>
      <p:pic>
        <p:nvPicPr>
          <p:cNvPr id="231" name="Google Shape;231;g31e70d1e1fd_4_7"/>
          <p:cNvPicPr preferRelativeResize="0"/>
          <p:nvPr/>
        </p:nvPicPr>
        <p:blipFill>
          <a:blip r:embed="rId6">
            <a:alphaModFix/>
          </a:blip>
          <a:stretch>
            <a:fillRect/>
          </a:stretch>
        </p:blipFill>
        <p:spPr>
          <a:xfrm>
            <a:off x="2346050" y="862000"/>
            <a:ext cx="13753175" cy="8371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35" name="Shape 235"/>
        <p:cNvGrpSpPr/>
        <p:nvPr/>
      </p:nvGrpSpPr>
      <p:grpSpPr>
        <a:xfrm>
          <a:off x="0" y="0"/>
          <a:ext cx="0" cy="0"/>
          <a:chOff x="0" y="0"/>
          <a:chExt cx="0" cy="0"/>
        </a:xfrm>
      </p:grpSpPr>
      <p:sp>
        <p:nvSpPr>
          <p:cNvPr id="236" name="Google Shape;236;g31e70d1e1fd_4_20"/>
          <p:cNvSpPr txBox="1"/>
          <p:nvPr/>
        </p:nvSpPr>
        <p:spPr>
          <a:xfrm>
            <a:off x="5497800" y="803125"/>
            <a:ext cx="11761500" cy="12234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2199"/>
              <a:buFont typeface="Arial"/>
              <a:buNone/>
            </a:pPr>
            <a:r>
              <a:t/>
            </a:r>
            <a:endParaRPr b="0" i="0" sz="200" u="none" cap="none" strike="noStrike">
              <a:solidFill>
                <a:srgbClr val="000000"/>
              </a:solidFill>
              <a:latin typeface="Arial"/>
              <a:ea typeface="Arial"/>
              <a:cs typeface="Arial"/>
              <a:sym typeface="Arial"/>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a:p>
            <a:pPr indent="0" lvl="0" marL="0" marR="0" rtl="0" algn="just">
              <a:lnSpc>
                <a:spcPct val="123565"/>
              </a:lnSpc>
              <a:spcBef>
                <a:spcPts val="0"/>
              </a:spcBef>
              <a:spcAft>
                <a:spcPts val="0"/>
              </a:spcAft>
              <a:buClr>
                <a:srgbClr val="000000"/>
              </a:buClr>
              <a:buSzPts val="2199"/>
              <a:buFont typeface="Arial"/>
              <a:buNone/>
            </a:pPr>
            <a:r>
              <a:t/>
            </a:r>
            <a:endParaRPr b="0" i="0" sz="2199" u="none" cap="none" strike="noStrike">
              <a:solidFill>
                <a:srgbClr val="252930"/>
              </a:solidFill>
              <a:latin typeface="Maven Pro"/>
              <a:ea typeface="Maven Pro"/>
              <a:cs typeface="Maven Pro"/>
              <a:sym typeface="Maven Pro"/>
            </a:endParaRPr>
          </a:p>
        </p:txBody>
      </p:sp>
      <p:sp>
        <p:nvSpPr>
          <p:cNvPr id="237" name="Google Shape;237;g31e70d1e1fd_4_20"/>
          <p:cNvSpPr txBox="1"/>
          <p:nvPr/>
        </p:nvSpPr>
        <p:spPr>
          <a:xfrm>
            <a:off x="5323644" y="152389"/>
            <a:ext cx="7640700" cy="5049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4100"/>
              <a:buFont typeface="Arial"/>
              <a:buNone/>
            </a:pPr>
            <a:r>
              <a:rPr b="1" i="0" lang="en-US" sz="4100" u="none" cap="none" strike="noStrike">
                <a:solidFill>
                  <a:srgbClr val="252930"/>
                </a:solidFill>
                <a:latin typeface="Maven Pro"/>
                <a:ea typeface="Maven Pro"/>
                <a:cs typeface="Maven Pro"/>
                <a:sym typeface="Maven Pro"/>
              </a:rPr>
              <a:t>RESULTS</a:t>
            </a:r>
            <a:endParaRPr b="0" i="0" sz="100" u="none" cap="none" strike="noStrike">
              <a:solidFill>
                <a:srgbClr val="000000"/>
              </a:solidFill>
              <a:latin typeface="Arial"/>
              <a:ea typeface="Arial"/>
              <a:cs typeface="Arial"/>
              <a:sym typeface="Arial"/>
            </a:endParaRPr>
          </a:p>
        </p:txBody>
      </p:sp>
      <p:sp>
        <p:nvSpPr>
          <p:cNvPr id="238" name="Google Shape;238;g31e70d1e1fd_4_20"/>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g31e70d1e1fd_4_20"/>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g31e70d1e1fd_4_20"/>
          <p:cNvSpPr/>
          <p:nvPr/>
        </p:nvSpPr>
        <p:spPr>
          <a:xfrm rot="5400000">
            <a:off x="15972490" y="900019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41" name="Google Shape;241;g31e70d1e1fd_4_20"/>
          <p:cNvGraphicFramePr/>
          <p:nvPr/>
        </p:nvGraphicFramePr>
        <p:xfrm>
          <a:off x="152400" y="152400"/>
          <a:ext cx="3000000" cy="3000000"/>
        </p:xfrm>
        <a:graphic>
          <a:graphicData uri="http://schemas.openxmlformats.org/drawingml/2006/table">
            <a:tbl>
              <a:tblPr>
                <a:solidFill>
                  <a:srgbClr val="FFFFFF"/>
                </a:solidFill>
                <a:tableStyleId>{1025651A-9524-48F9-A490-1E65C2EF8FEB}</a:tableStyleId>
              </a:tblPr>
              <a:tblGrid>
                <a:gridCol w="114300"/>
              </a:tblGrid>
              <a:tr h="38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57150" marL="57150"/>
                </a:tc>
              </a:tr>
            </a:tbl>
          </a:graphicData>
        </a:graphic>
      </p:graphicFrame>
      <p:pic>
        <p:nvPicPr>
          <p:cNvPr id="242" name="Google Shape;242;g31e70d1e1fd_4_20"/>
          <p:cNvPicPr preferRelativeResize="0"/>
          <p:nvPr/>
        </p:nvPicPr>
        <p:blipFill>
          <a:blip r:embed="rId6">
            <a:alphaModFix/>
          </a:blip>
          <a:stretch>
            <a:fillRect/>
          </a:stretch>
        </p:blipFill>
        <p:spPr>
          <a:xfrm>
            <a:off x="5425958" y="803125"/>
            <a:ext cx="7436092" cy="9131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46" name="Shape 246"/>
        <p:cNvGrpSpPr/>
        <p:nvPr/>
      </p:nvGrpSpPr>
      <p:grpSpPr>
        <a:xfrm>
          <a:off x="0" y="0"/>
          <a:ext cx="0" cy="0"/>
          <a:chOff x="0" y="0"/>
          <a:chExt cx="0" cy="0"/>
        </a:xfrm>
      </p:grpSpPr>
      <p:sp>
        <p:nvSpPr>
          <p:cNvPr id="247" name="Google Shape;247;p14"/>
          <p:cNvSpPr txBox="1"/>
          <p:nvPr/>
        </p:nvSpPr>
        <p:spPr>
          <a:xfrm>
            <a:off x="2858948" y="1053529"/>
            <a:ext cx="12973500" cy="1798200"/>
          </a:xfrm>
          <a:prstGeom prst="rect">
            <a:avLst/>
          </a:prstGeom>
          <a:noFill/>
          <a:ln>
            <a:noFill/>
          </a:ln>
        </p:spPr>
        <p:txBody>
          <a:bodyPr anchorCtr="0" anchor="t" bIns="0" lIns="0" spcFirstLastPara="1" rIns="0" wrap="square" tIns="0">
            <a:spAutoFit/>
          </a:bodyPr>
          <a:lstStyle/>
          <a:p>
            <a:pPr indent="0" lvl="0" marL="0" marR="0" rtl="0" algn="ctr">
              <a:lnSpc>
                <a:spcPct val="80002"/>
              </a:lnSpc>
              <a:spcBef>
                <a:spcPts val="0"/>
              </a:spcBef>
              <a:spcAft>
                <a:spcPts val="0"/>
              </a:spcAft>
              <a:buClr>
                <a:srgbClr val="000000"/>
              </a:buClr>
              <a:buSzPts val="7301"/>
              <a:buFont typeface="Arial"/>
              <a:buNone/>
            </a:pPr>
            <a:r>
              <a:rPr b="1" lang="en-US" sz="7301">
                <a:solidFill>
                  <a:srgbClr val="252D37"/>
                </a:solidFill>
                <a:latin typeface="Maven Pro"/>
                <a:ea typeface="Maven Pro"/>
                <a:cs typeface="Maven Pro"/>
                <a:sym typeface="Maven Pro"/>
              </a:rPr>
              <a:t>DISCUSSION</a:t>
            </a:r>
            <a:endParaRPr b="0" i="0" sz="1400" u="none" cap="none" strike="noStrike">
              <a:solidFill>
                <a:srgbClr val="000000"/>
              </a:solidFill>
              <a:latin typeface="Arial"/>
              <a:ea typeface="Arial"/>
              <a:cs typeface="Arial"/>
              <a:sym typeface="Arial"/>
            </a:endParaRPr>
          </a:p>
          <a:p>
            <a:pPr indent="0" lvl="0" marL="0" marR="0" rtl="0" algn="ctr">
              <a:lnSpc>
                <a:spcPct val="80002"/>
              </a:lnSpc>
              <a:spcBef>
                <a:spcPts val="0"/>
              </a:spcBef>
              <a:spcAft>
                <a:spcPts val="0"/>
              </a:spcAft>
              <a:buClr>
                <a:srgbClr val="000000"/>
              </a:buClr>
              <a:buSzPts val="7301"/>
              <a:buFont typeface="Arial"/>
              <a:buNone/>
            </a:pPr>
            <a:r>
              <a:t/>
            </a:r>
            <a:endParaRPr b="1" i="0" sz="7301" u="none" cap="none" strike="noStrike">
              <a:solidFill>
                <a:srgbClr val="252D37"/>
              </a:solidFill>
              <a:latin typeface="Maven Pro"/>
              <a:ea typeface="Maven Pro"/>
              <a:cs typeface="Maven Pro"/>
              <a:sym typeface="Maven Pro"/>
            </a:endParaRPr>
          </a:p>
        </p:txBody>
      </p:sp>
      <p:sp>
        <p:nvSpPr>
          <p:cNvPr id="248" name="Google Shape;248;p14"/>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9" name="Google Shape;249;p14"/>
          <p:cNvSpPr txBox="1"/>
          <p:nvPr/>
        </p:nvSpPr>
        <p:spPr>
          <a:xfrm>
            <a:off x="6139600" y="3401325"/>
            <a:ext cx="6412200" cy="6018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US" sz="2550" u="sng">
                <a:solidFill>
                  <a:srgbClr val="252D37"/>
                </a:solidFill>
                <a:latin typeface="Maven Pro"/>
                <a:ea typeface="Maven Pro"/>
                <a:cs typeface="Maven Pro"/>
                <a:sym typeface="Maven Pro"/>
              </a:rPr>
              <a:t>High Efficiency Scores (VRS)</a:t>
            </a:r>
            <a:endParaRPr sz="2550" u="sng">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Good Samaritan Regional Hospital</a:t>
            </a:r>
            <a:endParaRPr b="0" i="0" sz="2550" u="none" cap="none" strike="noStrike">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Sky Lakes Medical Center</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Mercy Medical Center</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Mid Columbia Medical Center</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Providence St Vincent</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Providence Willamette Falls</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Providence Milwaukie</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Saint Alphonsus Medical Center - Ontario</a:t>
            </a:r>
            <a:endParaRPr sz="2550">
              <a:solidFill>
                <a:srgbClr val="252D37"/>
              </a:solidFill>
              <a:latin typeface="Maven Pro"/>
              <a:ea typeface="Maven Pro"/>
              <a:cs typeface="Maven Pro"/>
              <a:sym typeface="Maven Pro"/>
            </a:endParaRPr>
          </a:p>
          <a:p>
            <a:pPr indent="0" lvl="0" marL="0" marR="0" rtl="0" algn="ctr">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250" name="Google Shape;250;p14"/>
          <p:cNvSpPr txBox="1"/>
          <p:nvPr/>
        </p:nvSpPr>
        <p:spPr>
          <a:xfrm>
            <a:off x="12679575" y="3401325"/>
            <a:ext cx="4815900" cy="71178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US" sz="2550" u="sng">
                <a:solidFill>
                  <a:srgbClr val="252D37"/>
                </a:solidFill>
                <a:latin typeface="Maven Pro"/>
                <a:ea typeface="Maven Pro"/>
                <a:cs typeface="Maven Pro"/>
                <a:sym typeface="Maven Pro"/>
              </a:rPr>
              <a:t>Low Efficiency Scores (VRS)</a:t>
            </a:r>
            <a:endParaRPr b="0" i="0" sz="2550" u="sng" cap="none" strike="noStrike">
              <a:solidFill>
                <a:srgbClr val="000000"/>
              </a:solidFill>
              <a:latin typeface="Arial"/>
              <a:ea typeface="Arial"/>
              <a:cs typeface="Arial"/>
              <a:sym typeface="Arial"/>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Adventist Health Portland</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Bay Area Hospital</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Legacy Emmanuel</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Legacy Good Samaritan</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Legacy Meridian</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Legacy Mount Hood</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OHSU Hospital and Clinics</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Providence Newberg</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Providence Portland</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Sacred Heart - Riverbend</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Willamette Valley Medical</a:t>
            </a:r>
            <a:endParaRPr sz="3399">
              <a:solidFill>
                <a:srgbClr val="252D37"/>
              </a:solidFill>
              <a:latin typeface="Maven Pro"/>
              <a:ea typeface="Maven Pro"/>
              <a:cs typeface="Maven Pro"/>
              <a:sym typeface="Maven Pro"/>
            </a:endParaRPr>
          </a:p>
          <a:p>
            <a:pPr indent="0" lvl="0" marL="0" marR="0" rtl="0" algn="ctr">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251" name="Google Shape;251;p14"/>
          <p:cNvSpPr txBox="1"/>
          <p:nvPr/>
        </p:nvSpPr>
        <p:spPr>
          <a:xfrm>
            <a:off x="719525" y="3401325"/>
            <a:ext cx="5025000" cy="15204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lang="en-US" sz="2599">
                <a:solidFill>
                  <a:srgbClr val="252D37"/>
                </a:solidFill>
                <a:latin typeface="Maven Pro"/>
                <a:ea typeface="Maven Pro"/>
                <a:cs typeface="Maven Pro"/>
                <a:sym typeface="Maven Pro"/>
              </a:rPr>
              <a:t>Asante Three Rivers Medical Center has 1 in both CRS and VRS</a:t>
            </a:r>
            <a:endParaRPr b="0" i="0" sz="2599" u="none" cap="none" strike="noStrike">
              <a:solidFill>
                <a:srgbClr val="252D37"/>
              </a:solidFill>
              <a:latin typeface="Maven Pro"/>
              <a:ea typeface="Maven Pro"/>
              <a:cs typeface="Maven Pro"/>
              <a:sym typeface="Maven Pro"/>
            </a:endParaRPr>
          </a:p>
        </p:txBody>
      </p:sp>
      <p:sp>
        <p:nvSpPr>
          <p:cNvPr id="252" name="Google Shape;252;p14"/>
          <p:cNvSpPr txBox="1"/>
          <p:nvPr/>
        </p:nvSpPr>
        <p:spPr>
          <a:xfrm>
            <a:off x="1412700" y="2374725"/>
            <a:ext cx="3159300" cy="4770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b="1" lang="en-US" sz="3099">
                <a:solidFill>
                  <a:srgbClr val="888888"/>
                </a:solidFill>
                <a:latin typeface="Maven Pro"/>
                <a:ea typeface="Maven Pro"/>
                <a:cs typeface="Maven Pro"/>
                <a:sym typeface="Maven Pro"/>
              </a:rPr>
              <a:t>Observation 1</a:t>
            </a:r>
            <a:endParaRPr b="1" i="0" sz="3099" u="none" cap="none" strike="noStrike">
              <a:solidFill>
                <a:srgbClr val="888888"/>
              </a:solidFill>
              <a:latin typeface="Maven Pro"/>
              <a:ea typeface="Maven Pro"/>
              <a:cs typeface="Maven Pro"/>
              <a:sym typeface="Maven Pro"/>
            </a:endParaRPr>
          </a:p>
        </p:txBody>
      </p:sp>
      <p:sp>
        <p:nvSpPr>
          <p:cNvPr id="253" name="Google Shape;253;p14"/>
          <p:cNvSpPr txBox="1"/>
          <p:nvPr/>
        </p:nvSpPr>
        <p:spPr>
          <a:xfrm>
            <a:off x="7125700" y="2374725"/>
            <a:ext cx="3159300" cy="4770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b="1" lang="en-US" sz="3099">
                <a:solidFill>
                  <a:srgbClr val="888888"/>
                </a:solidFill>
                <a:latin typeface="Maven Pro"/>
                <a:ea typeface="Maven Pro"/>
                <a:cs typeface="Maven Pro"/>
                <a:sym typeface="Maven Pro"/>
              </a:rPr>
              <a:t>Observation 2</a:t>
            </a:r>
            <a:endParaRPr b="1" i="0" sz="3099" u="none" cap="none" strike="noStrike">
              <a:solidFill>
                <a:srgbClr val="888888"/>
              </a:solidFill>
              <a:latin typeface="Maven Pro"/>
              <a:ea typeface="Maven Pro"/>
              <a:cs typeface="Maven Pro"/>
              <a:sym typeface="Maven Pro"/>
            </a:endParaRPr>
          </a:p>
        </p:txBody>
      </p:sp>
      <p:sp>
        <p:nvSpPr>
          <p:cNvPr id="254" name="Google Shape;254;p14"/>
          <p:cNvSpPr txBox="1"/>
          <p:nvPr/>
        </p:nvSpPr>
        <p:spPr>
          <a:xfrm>
            <a:off x="13507875" y="2374725"/>
            <a:ext cx="3159300" cy="4770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b="1" lang="en-US" sz="3099">
                <a:solidFill>
                  <a:srgbClr val="888888"/>
                </a:solidFill>
                <a:latin typeface="Maven Pro"/>
                <a:ea typeface="Maven Pro"/>
                <a:cs typeface="Maven Pro"/>
                <a:sym typeface="Maven Pro"/>
              </a:rPr>
              <a:t>Observation 3</a:t>
            </a:r>
            <a:endParaRPr b="1" i="0" sz="3099" u="none" cap="none" strike="noStrike">
              <a:solidFill>
                <a:srgbClr val="888888"/>
              </a:solidFill>
              <a:latin typeface="Maven Pro"/>
              <a:ea typeface="Maven Pro"/>
              <a:cs typeface="Maven Pro"/>
              <a:sym typeface="Maven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58" name="Shape 258"/>
        <p:cNvGrpSpPr/>
        <p:nvPr/>
      </p:nvGrpSpPr>
      <p:grpSpPr>
        <a:xfrm>
          <a:off x="0" y="0"/>
          <a:ext cx="0" cy="0"/>
          <a:chOff x="0" y="0"/>
          <a:chExt cx="0" cy="0"/>
        </a:xfrm>
      </p:grpSpPr>
      <p:sp>
        <p:nvSpPr>
          <p:cNvPr id="259" name="Google Shape;259;g31e70d1e1fd_4_37"/>
          <p:cNvSpPr txBox="1"/>
          <p:nvPr/>
        </p:nvSpPr>
        <p:spPr>
          <a:xfrm>
            <a:off x="2858948" y="1053529"/>
            <a:ext cx="12973500" cy="1798200"/>
          </a:xfrm>
          <a:prstGeom prst="rect">
            <a:avLst/>
          </a:prstGeom>
          <a:noFill/>
          <a:ln>
            <a:noFill/>
          </a:ln>
        </p:spPr>
        <p:txBody>
          <a:bodyPr anchorCtr="0" anchor="t" bIns="0" lIns="0" spcFirstLastPara="1" rIns="0" wrap="square" tIns="0">
            <a:spAutoFit/>
          </a:bodyPr>
          <a:lstStyle/>
          <a:p>
            <a:pPr indent="0" lvl="0" marL="0" marR="0" rtl="0" algn="ctr">
              <a:lnSpc>
                <a:spcPct val="80002"/>
              </a:lnSpc>
              <a:spcBef>
                <a:spcPts val="0"/>
              </a:spcBef>
              <a:spcAft>
                <a:spcPts val="0"/>
              </a:spcAft>
              <a:buClr>
                <a:srgbClr val="000000"/>
              </a:buClr>
              <a:buSzPts val="7301"/>
              <a:buFont typeface="Arial"/>
              <a:buNone/>
            </a:pPr>
            <a:r>
              <a:rPr b="1" lang="en-US" sz="7301">
                <a:solidFill>
                  <a:srgbClr val="252D37"/>
                </a:solidFill>
                <a:latin typeface="Maven Pro"/>
                <a:ea typeface="Maven Pro"/>
                <a:cs typeface="Maven Pro"/>
                <a:sym typeface="Maven Pro"/>
              </a:rPr>
              <a:t>DISCUSSION</a:t>
            </a:r>
            <a:endParaRPr b="0" i="0" sz="1400" u="none" cap="none" strike="noStrike">
              <a:solidFill>
                <a:srgbClr val="000000"/>
              </a:solidFill>
              <a:latin typeface="Arial"/>
              <a:ea typeface="Arial"/>
              <a:cs typeface="Arial"/>
              <a:sym typeface="Arial"/>
            </a:endParaRPr>
          </a:p>
          <a:p>
            <a:pPr indent="0" lvl="0" marL="0" marR="0" rtl="0" algn="ctr">
              <a:lnSpc>
                <a:spcPct val="80002"/>
              </a:lnSpc>
              <a:spcBef>
                <a:spcPts val="0"/>
              </a:spcBef>
              <a:spcAft>
                <a:spcPts val="0"/>
              </a:spcAft>
              <a:buClr>
                <a:srgbClr val="000000"/>
              </a:buClr>
              <a:buSzPts val="7301"/>
              <a:buFont typeface="Arial"/>
              <a:buNone/>
            </a:pPr>
            <a:r>
              <a:t/>
            </a:r>
            <a:endParaRPr b="1" i="0" sz="7301" u="none" cap="none" strike="noStrike">
              <a:solidFill>
                <a:srgbClr val="252D37"/>
              </a:solidFill>
              <a:latin typeface="Maven Pro"/>
              <a:ea typeface="Maven Pro"/>
              <a:cs typeface="Maven Pro"/>
              <a:sym typeface="Maven Pro"/>
            </a:endParaRPr>
          </a:p>
        </p:txBody>
      </p:sp>
      <p:sp>
        <p:nvSpPr>
          <p:cNvPr id="260" name="Google Shape;260;g31e70d1e1fd_4_37"/>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31e70d1e1fd_4_37"/>
          <p:cNvSpPr txBox="1"/>
          <p:nvPr/>
        </p:nvSpPr>
        <p:spPr>
          <a:xfrm>
            <a:off x="2485050" y="3401325"/>
            <a:ext cx="5702100" cy="2041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US" sz="2550" u="sng">
                <a:solidFill>
                  <a:srgbClr val="252D37"/>
                </a:solidFill>
                <a:latin typeface="Maven Pro"/>
                <a:ea typeface="Maven Pro"/>
                <a:cs typeface="Maven Pro"/>
                <a:sym typeface="Maven Pro"/>
              </a:rPr>
              <a:t>Input-Oriented scores</a:t>
            </a:r>
            <a:endParaRPr sz="2550" u="sng">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Insufficient</a:t>
            </a:r>
            <a:r>
              <a:rPr lang="en-US" sz="2550">
                <a:solidFill>
                  <a:srgbClr val="252D37"/>
                </a:solidFill>
                <a:latin typeface="Maven Pro"/>
                <a:ea typeface="Maven Pro"/>
                <a:cs typeface="Maven Pro"/>
                <a:sym typeface="Maven Pro"/>
              </a:rPr>
              <a:t> inputs to show the efficiency of 7 hospitals</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Scores were fairly low</a:t>
            </a:r>
            <a:endParaRPr b="0" i="0" sz="3399" u="none" cap="none" strike="noStrike">
              <a:solidFill>
                <a:srgbClr val="252D37"/>
              </a:solidFill>
              <a:latin typeface="Maven Pro"/>
              <a:ea typeface="Maven Pro"/>
              <a:cs typeface="Maven Pro"/>
              <a:sym typeface="Maven Pro"/>
            </a:endParaRPr>
          </a:p>
        </p:txBody>
      </p:sp>
      <p:sp>
        <p:nvSpPr>
          <p:cNvPr id="262" name="Google Shape;262;g31e70d1e1fd_4_37"/>
          <p:cNvSpPr txBox="1"/>
          <p:nvPr/>
        </p:nvSpPr>
        <p:spPr>
          <a:xfrm>
            <a:off x="9000150" y="3401325"/>
            <a:ext cx="8495400" cy="5469300"/>
          </a:xfrm>
          <a:prstGeom prst="rect">
            <a:avLst/>
          </a:prstGeom>
          <a:noFill/>
          <a:ln>
            <a:noFill/>
          </a:ln>
        </p:spPr>
        <p:txBody>
          <a:bodyPr anchorCtr="0" anchor="t" bIns="0" lIns="0" spcFirstLastPara="1" rIns="0" wrap="square" tIns="0">
            <a:spAutoFit/>
          </a:bodyPr>
          <a:lstStyle/>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The lower the </a:t>
            </a:r>
            <a:r>
              <a:rPr lang="en-US" sz="2550">
                <a:solidFill>
                  <a:srgbClr val="252D37"/>
                </a:solidFill>
                <a:latin typeface="Maven Pro"/>
                <a:ea typeface="Maven Pro"/>
                <a:cs typeface="Maven Pro"/>
                <a:sym typeface="Maven Pro"/>
              </a:rPr>
              <a:t>predicted readmission rate</a:t>
            </a:r>
            <a:r>
              <a:rPr lang="en-US" sz="2550">
                <a:solidFill>
                  <a:srgbClr val="252D37"/>
                </a:solidFill>
                <a:latin typeface="Maven Pro"/>
                <a:ea typeface="Maven Pro"/>
                <a:cs typeface="Maven Pro"/>
                <a:sym typeface="Maven Pro"/>
              </a:rPr>
              <a:t>, the higher the efficiency for both CRS and VRS</a:t>
            </a:r>
            <a:endParaRPr sz="2550">
              <a:solidFill>
                <a:srgbClr val="252D37"/>
              </a:solidFill>
              <a:latin typeface="Maven Pro"/>
              <a:ea typeface="Maven Pro"/>
              <a:cs typeface="Maven Pro"/>
              <a:sym typeface="Maven Pro"/>
            </a:endParaRPr>
          </a:p>
          <a:p>
            <a:pPr indent="-390525" lvl="1" marL="9144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Prov. St Vincent had the least -16.22</a:t>
            </a:r>
            <a:endParaRPr sz="2550">
              <a:solidFill>
                <a:srgbClr val="252D37"/>
              </a:solidFill>
              <a:latin typeface="Maven Pro"/>
              <a:ea typeface="Maven Pro"/>
              <a:cs typeface="Maven Pro"/>
              <a:sym typeface="Maven Pro"/>
            </a:endParaRPr>
          </a:p>
          <a:p>
            <a:pPr indent="-390525" lvl="1" marL="9144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Asante three is next with - 16.40</a:t>
            </a:r>
            <a:endParaRPr sz="2550">
              <a:solidFill>
                <a:srgbClr val="252D37"/>
              </a:solidFill>
              <a:latin typeface="Maven Pro"/>
              <a:ea typeface="Maven Pro"/>
              <a:cs typeface="Maven Pro"/>
              <a:sym typeface="Maven Pro"/>
            </a:endParaRPr>
          </a:p>
          <a:p>
            <a:pPr indent="-390525" lvl="0" marL="4572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A lower output did not </a:t>
            </a:r>
            <a:r>
              <a:rPr lang="en-US" sz="2550">
                <a:solidFill>
                  <a:srgbClr val="252D37"/>
                </a:solidFill>
                <a:latin typeface="Maven Pro"/>
                <a:ea typeface="Maven Pro"/>
                <a:cs typeface="Maven Pro"/>
                <a:sym typeface="Maven Pro"/>
              </a:rPr>
              <a:t>necessarily</a:t>
            </a:r>
            <a:r>
              <a:rPr lang="en-US" sz="2550">
                <a:solidFill>
                  <a:srgbClr val="252D37"/>
                </a:solidFill>
                <a:latin typeface="Maven Pro"/>
                <a:ea typeface="Maven Pro"/>
                <a:cs typeface="Maven Pro"/>
                <a:sym typeface="Maven Pro"/>
              </a:rPr>
              <a:t> mean a lower efficiency</a:t>
            </a:r>
            <a:endParaRPr sz="2550">
              <a:solidFill>
                <a:srgbClr val="252D37"/>
              </a:solidFill>
              <a:latin typeface="Maven Pro"/>
              <a:ea typeface="Maven Pro"/>
              <a:cs typeface="Maven Pro"/>
              <a:sym typeface="Maven Pro"/>
            </a:endParaRPr>
          </a:p>
          <a:p>
            <a:pPr indent="-390525" lvl="1" marL="9144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Asante Three River had a score of 0.73 - the least </a:t>
            </a:r>
            <a:endParaRPr sz="2550">
              <a:solidFill>
                <a:srgbClr val="252D37"/>
              </a:solidFill>
              <a:latin typeface="Maven Pro"/>
              <a:ea typeface="Maven Pro"/>
              <a:cs typeface="Maven Pro"/>
              <a:sym typeface="Maven Pro"/>
            </a:endParaRPr>
          </a:p>
          <a:p>
            <a:pPr indent="-390525" lvl="1" marL="9144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Sky Lakes had the highest - 1.6</a:t>
            </a:r>
            <a:endParaRPr sz="2550">
              <a:solidFill>
                <a:srgbClr val="252D37"/>
              </a:solidFill>
              <a:latin typeface="Maven Pro"/>
              <a:ea typeface="Maven Pro"/>
              <a:cs typeface="Maven Pro"/>
              <a:sym typeface="Maven Pro"/>
            </a:endParaRPr>
          </a:p>
          <a:p>
            <a:pPr indent="-390525" lvl="1" marL="914400" marR="0" rtl="0" algn="l">
              <a:lnSpc>
                <a:spcPct val="140011"/>
              </a:lnSpc>
              <a:spcBef>
                <a:spcPts val="0"/>
              </a:spcBef>
              <a:spcAft>
                <a:spcPts val="0"/>
              </a:spcAft>
              <a:buClr>
                <a:srgbClr val="252D37"/>
              </a:buClr>
              <a:buSzPts val="2550"/>
              <a:buFont typeface="Maven Pro"/>
              <a:buChar char="○"/>
            </a:pPr>
            <a:r>
              <a:rPr lang="en-US" sz="2550">
                <a:solidFill>
                  <a:srgbClr val="252D37"/>
                </a:solidFill>
                <a:latin typeface="Maven Pro"/>
                <a:ea typeface="Maven Pro"/>
                <a:cs typeface="Maven Pro"/>
                <a:sym typeface="Maven Pro"/>
              </a:rPr>
              <a:t>Bay Area had the second highest - 1.17</a:t>
            </a:r>
            <a:endParaRPr sz="2550">
              <a:solidFill>
                <a:srgbClr val="252D37"/>
              </a:solidFill>
              <a:latin typeface="Maven Pro"/>
              <a:ea typeface="Maven Pro"/>
              <a:cs typeface="Maven Pro"/>
              <a:sym typeface="Maven Pro"/>
            </a:endParaRPr>
          </a:p>
          <a:p>
            <a:pPr indent="0" lvl="0" marL="0" marR="0" rtl="0" algn="ctr">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
        <p:nvSpPr>
          <p:cNvPr id="263" name="Google Shape;263;g31e70d1e1fd_4_37"/>
          <p:cNvSpPr txBox="1"/>
          <p:nvPr/>
        </p:nvSpPr>
        <p:spPr>
          <a:xfrm>
            <a:off x="2617925" y="2586625"/>
            <a:ext cx="3159300" cy="4770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b="1" lang="en-US" sz="3099">
                <a:solidFill>
                  <a:srgbClr val="888888"/>
                </a:solidFill>
                <a:latin typeface="Maven Pro"/>
                <a:ea typeface="Maven Pro"/>
                <a:cs typeface="Maven Pro"/>
                <a:sym typeface="Maven Pro"/>
              </a:rPr>
              <a:t>Observation 4</a:t>
            </a:r>
            <a:endParaRPr b="1" i="0" sz="3099" u="none" cap="none" strike="noStrike">
              <a:solidFill>
                <a:srgbClr val="888888"/>
              </a:solidFill>
              <a:latin typeface="Maven Pro"/>
              <a:ea typeface="Maven Pro"/>
              <a:cs typeface="Maven Pro"/>
              <a:sym typeface="Maven Pro"/>
            </a:endParaRPr>
          </a:p>
        </p:txBody>
      </p:sp>
      <p:sp>
        <p:nvSpPr>
          <p:cNvPr id="264" name="Google Shape;264;g31e70d1e1fd_4_37"/>
          <p:cNvSpPr txBox="1"/>
          <p:nvPr/>
        </p:nvSpPr>
        <p:spPr>
          <a:xfrm>
            <a:off x="11024725" y="2586625"/>
            <a:ext cx="3159300" cy="477000"/>
          </a:xfrm>
          <a:prstGeom prst="rect">
            <a:avLst/>
          </a:prstGeom>
          <a:noFill/>
          <a:ln>
            <a:noFill/>
          </a:ln>
        </p:spPr>
        <p:txBody>
          <a:bodyPr anchorCtr="0" anchor="t" bIns="0" lIns="0" spcFirstLastPara="1" rIns="0" wrap="square" tIns="0">
            <a:spAutoFit/>
          </a:bodyPr>
          <a:lstStyle/>
          <a:p>
            <a:pPr indent="0" lvl="0" marL="457200" marR="0" rtl="0" algn="l">
              <a:lnSpc>
                <a:spcPct val="140011"/>
              </a:lnSpc>
              <a:spcBef>
                <a:spcPts val="0"/>
              </a:spcBef>
              <a:spcAft>
                <a:spcPts val="0"/>
              </a:spcAft>
              <a:buNone/>
            </a:pPr>
            <a:r>
              <a:rPr b="1" lang="en-US" sz="3099">
                <a:solidFill>
                  <a:srgbClr val="888888"/>
                </a:solidFill>
                <a:latin typeface="Maven Pro"/>
                <a:ea typeface="Maven Pro"/>
                <a:cs typeface="Maven Pro"/>
                <a:sym typeface="Maven Pro"/>
              </a:rPr>
              <a:t>Observation 5</a:t>
            </a:r>
            <a:endParaRPr b="1" i="0" sz="3099" u="none" cap="none" strike="noStrike">
              <a:solidFill>
                <a:srgbClr val="888888"/>
              </a:solidFill>
              <a:latin typeface="Maven Pro"/>
              <a:ea typeface="Maven Pro"/>
              <a:cs typeface="Maven Pro"/>
              <a:sym typeface="Maven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68" name="Shape 268"/>
        <p:cNvGrpSpPr/>
        <p:nvPr/>
      </p:nvGrpSpPr>
      <p:grpSpPr>
        <a:xfrm>
          <a:off x="0" y="0"/>
          <a:ext cx="0" cy="0"/>
          <a:chOff x="0" y="0"/>
          <a:chExt cx="0" cy="0"/>
        </a:xfrm>
      </p:grpSpPr>
      <p:sp>
        <p:nvSpPr>
          <p:cNvPr id="269" name="Google Shape;269;g31e70d1e1fd_4_0"/>
          <p:cNvSpPr txBox="1"/>
          <p:nvPr/>
        </p:nvSpPr>
        <p:spPr>
          <a:xfrm>
            <a:off x="2839673" y="1663229"/>
            <a:ext cx="12973500" cy="1798200"/>
          </a:xfrm>
          <a:prstGeom prst="rect">
            <a:avLst/>
          </a:prstGeom>
          <a:noFill/>
          <a:ln>
            <a:noFill/>
          </a:ln>
        </p:spPr>
        <p:txBody>
          <a:bodyPr anchorCtr="0" anchor="t" bIns="0" lIns="0" spcFirstLastPara="1" rIns="0" wrap="square" tIns="0">
            <a:spAutoFit/>
          </a:bodyPr>
          <a:lstStyle/>
          <a:p>
            <a:pPr indent="0" lvl="0" marL="0" marR="0" rtl="0" algn="ctr">
              <a:lnSpc>
                <a:spcPct val="80002"/>
              </a:lnSpc>
              <a:spcBef>
                <a:spcPts val="0"/>
              </a:spcBef>
              <a:spcAft>
                <a:spcPts val="0"/>
              </a:spcAft>
              <a:buClr>
                <a:srgbClr val="000000"/>
              </a:buClr>
              <a:buSzPts val="7301"/>
              <a:buFont typeface="Arial"/>
              <a:buNone/>
            </a:pPr>
            <a:r>
              <a:rPr b="1" i="0" lang="en-US" sz="7301" u="none" cap="none" strike="noStrike">
                <a:solidFill>
                  <a:srgbClr val="252D37"/>
                </a:solidFill>
                <a:latin typeface="Maven Pro"/>
                <a:ea typeface="Maven Pro"/>
                <a:cs typeface="Maven Pro"/>
                <a:sym typeface="Maven Pro"/>
              </a:rPr>
              <a:t>LIMITATIONS </a:t>
            </a:r>
            <a:endParaRPr b="0" i="0" sz="1400" u="none" cap="none" strike="noStrike">
              <a:solidFill>
                <a:srgbClr val="000000"/>
              </a:solidFill>
              <a:latin typeface="Arial"/>
              <a:ea typeface="Arial"/>
              <a:cs typeface="Arial"/>
              <a:sym typeface="Arial"/>
            </a:endParaRPr>
          </a:p>
          <a:p>
            <a:pPr indent="0" lvl="0" marL="0" marR="0" rtl="0" algn="ctr">
              <a:lnSpc>
                <a:spcPct val="80002"/>
              </a:lnSpc>
              <a:spcBef>
                <a:spcPts val="0"/>
              </a:spcBef>
              <a:spcAft>
                <a:spcPts val="0"/>
              </a:spcAft>
              <a:buClr>
                <a:srgbClr val="000000"/>
              </a:buClr>
              <a:buSzPts val="7301"/>
              <a:buFont typeface="Arial"/>
              <a:buNone/>
            </a:pPr>
            <a:r>
              <a:t/>
            </a:r>
            <a:endParaRPr b="1" i="0" sz="7301" u="none" cap="none" strike="noStrike">
              <a:solidFill>
                <a:srgbClr val="252D37"/>
              </a:solidFill>
              <a:latin typeface="Maven Pro"/>
              <a:ea typeface="Maven Pro"/>
              <a:cs typeface="Maven Pro"/>
              <a:sym typeface="Maven Pro"/>
            </a:endParaRPr>
          </a:p>
        </p:txBody>
      </p:sp>
      <p:sp>
        <p:nvSpPr>
          <p:cNvPr id="270" name="Google Shape;270;g31e70d1e1fd_4_0"/>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g31e70d1e1fd_4_0"/>
          <p:cNvSpPr txBox="1"/>
          <p:nvPr/>
        </p:nvSpPr>
        <p:spPr>
          <a:xfrm>
            <a:off x="1547871" y="3602697"/>
            <a:ext cx="15557400" cy="4185900"/>
          </a:xfrm>
          <a:prstGeom prst="rect">
            <a:avLst/>
          </a:prstGeom>
          <a:noFill/>
          <a:ln>
            <a:noFill/>
          </a:ln>
        </p:spPr>
        <p:txBody>
          <a:bodyPr anchorCtr="0" anchor="t" bIns="0" lIns="0" spcFirstLastPara="1" rIns="0" wrap="square" tIns="0">
            <a:spAutoFit/>
          </a:bodyPr>
          <a:lstStyle/>
          <a:p>
            <a:pPr indent="-444436" lvl="0" marL="457200" marR="0" rtl="0" algn="l">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Use of ratios and efficiency scores may affect accuracy.</a:t>
            </a:r>
            <a:endParaRPr b="0" i="0" sz="1400" u="none" cap="none" strike="noStrike">
              <a:solidFill>
                <a:srgbClr val="000000"/>
              </a:solidFill>
              <a:latin typeface="Arial"/>
              <a:ea typeface="Arial"/>
              <a:cs typeface="Arial"/>
              <a:sym typeface="Arial"/>
            </a:endParaRPr>
          </a:p>
          <a:p>
            <a:pPr indent="-444436" lvl="0" marL="457200" marR="0" rtl="0" algn="l">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Datasets size is very large</a:t>
            </a:r>
            <a:r>
              <a:rPr lang="en-US" sz="3399">
                <a:solidFill>
                  <a:srgbClr val="252D37"/>
                </a:solidFill>
                <a:latin typeface="Maven Pro"/>
                <a:ea typeface="Maven Pro"/>
                <a:cs typeface="Maven Pro"/>
                <a:sym typeface="Maven Pro"/>
              </a:rPr>
              <a:t> with missing information.</a:t>
            </a:r>
            <a:endParaRPr b="0" i="0" sz="3399" u="none" cap="none" strike="noStrike">
              <a:solidFill>
                <a:srgbClr val="252D37"/>
              </a:solidFill>
              <a:latin typeface="Maven Pro"/>
              <a:ea typeface="Maven Pro"/>
              <a:cs typeface="Maven Pro"/>
              <a:sym typeface="Maven Pro"/>
            </a:endParaRPr>
          </a:p>
          <a:p>
            <a:pPr indent="-444436" lvl="0" marL="457200" marR="0" rtl="0" algn="l">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There are also other input and output statistics that can be used to accurately measure DEA, which would be the result of using a different dataset. </a:t>
            </a:r>
            <a:endParaRPr b="0" i="0" sz="3399" u="none" cap="none" strike="noStrike">
              <a:solidFill>
                <a:srgbClr val="252D37"/>
              </a:solidFill>
              <a:latin typeface="Maven Pro"/>
              <a:ea typeface="Maven Pro"/>
              <a:cs typeface="Maven Pro"/>
              <a:sym typeface="Maven Pro"/>
            </a:endParaRPr>
          </a:p>
          <a:p>
            <a:pPr indent="0" lvl="0" marL="0" marR="0" rtl="0" algn="ctr">
              <a:lnSpc>
                <a:spcPct val="123565"/>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75" name="Shape 275"/>
        <p:cNvGrpSpPr/>
        <p:nvPr/>
      </p:nvGrpSpPr>
      <p:grpSpPr>
        <a:xfrm>
          <a:off x="0" y="0"/>
          <a:ext cx="0" cy="0"/>
          <a:chOff x="0" y="0"/>
          <a:chExt cx="0" cy="0"/>
        </a:xfrm>
      </p:grpSpPr>
      <p:sp>
        <p:nvSpPr>
          <p:cNvPr id="276" name="Google Shape;276;p15"/>
          <p:cNvSpPr txBox="1"/>
          <p:nvPr/>
        </p:nvSpPr>
        <p:spPr>
          <a:xfrm>
            <a:off x="2839673" y="1663229"/>
            <a:ext cx="12973646" cy="1586767"/>
          </a:xfrm>
          <a:prstGeom prst="rect">
            <a:avLst/>
          </a:prstGeom>
          <a:noFill/>
          <a:ln>
            <a:noFill/>
          </a:ln>
        </p:spPr>
        <p:txBody>
          <a:bodyPr anchorCtr="0" anchor="t" bIns="0" lIns="0" spcFirstLastPara="1" rIns="0" wrap="square" tIns="0">
            <a:spAutoFit/>
          </a:bodyPr>
          <a:lstStyle/>
          <a:p>
            <a:pPr indent="0" lvl="0" marL="0" marR="0" rtl="0" algn="ctr">
              <a:lnSpc>
                <a:spcPct val="80002"/>
              </a:lnSpc>
              <a:spcBef>
                <a:spcPts val="0"/>
              </a:spcBef>
              <a:spcAft>
                <a:spcPts val="0"/>
              </a:spcAft>
              <a:buClr>
                <a:srgbClr val="000000"/>
              </a:buClr>
              <a:buSzPts val="7301"/>
              <a:buFont typeface="Arial"/>
              <a:buNone/>
            </a:pPr>
            <a:r>
              <a:rPr b="1" i="0" lang="en-US" sz="7301" u="none" cap="none" strike="noStrike">
                <a:solidFill>
                  <a:srgbClr val="252D37"/>
                </a:solidFill>
                <a:latin typeface="Maven Pro"/>
                <a:ea typeface="Maven Pro"/>
                <a:cs typeface="Maven Pro"/>
                <a:sym typeface="Maven Pro"/>
              </a:rPr>
              <a:t>FUTURE STUDIES</a:t>
            </a:r>
            <a:endParaRPr b="0" i="0" sz="1400" u="none" cap="none" strike="noStrike">
              <a:solidFill>
                <a:srgbClr val="000000"/>
              </a:solidFill>
              <a:latin typeface="Arial"/>
              <a:ea typeface="Arial"/>
              <a:cs typeface="Arial"/>
              <a:sym typeface="Arial"/>
            </a:endParaRPr>
          </a:p>
          <a:p>
            <a:pPr indent="0" lvl="0" marL="0" marR="0" rtl="0" algn="ctr">
              <a:lnSpc>
                <a:spcPct val="80002"/>
              </a:lnSpc>
              <a:spcBef>
                <a:spcPts val="0"/>
              </a:spcBef>
              <a:spcAft>
                <a:spcPts val="0"/>
              </a:spcAft>
              <a:buClr>
                <a:srgbClr val="000000"/>
              </a:buClr>
              <a:buSzPts val="7301"/>
              <a:buFont typeface="Arial"/>
              <a:buNone/>
            </a:pPr>
            <a:r>
              <a:t/>
            </a:r>
            <a:endParaRPr b="1" i="0" sz="7301" u="none" cap="none" strike="noStrike">
              <a:solidFill>
                <a:srgbClr val="252D37"/>
              </a:solidFill>
              <a:latin typeface="Maven Pro"/>
              <a:ea typeface="Maven Pro"/>
              <a:cs typeface="Maven Pro"/>
              <a:sym typeface="Maven Pro"/>
            </a:endParaRPr>
          </a:p>
        </p:txBody>
      </p:sp>
      <p:sp>
        <p:nvSpPr>
          <p:cNvPr id="277" name="Google Shape;277;p15"/>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15"/>
          <p:cNvSpPr txBox="1"/>
          <p:nvPr/>
        </p:nvSpPr>
        <p:spPr>
          <a:xfrm>
            <a:off x="1547871" y="3602697"/>
            <a:ext cx="15557400" cy="4185900"/>
          </a:xfrm>
          <a:prstGeom prst="rect">
            <a:avLst/>
          </a:prstGeom>
          <a:noFill/>
          <a:ln>
            <a:noFill/>
          </a:ln>
        </p:spPr>
        <p:txBody>
          <a:bodyPr anchorCtr="0" anchor="t" bIns="0" lIns="0" spcFirstLastPara="1" rIns="0" wrap="square" tIns="0">
            <a:spAutoFit/>
          </a:bodyPr>
          <a:lstStyle/>
          <a:p>
            <a:pPr indent="-444436" lvl="0" marL="457200" marR="0" rtl="0" algn="l">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Comparing hospital efficiency between two states with similar populations using some more different inputs like cost invested in hospital, patient satisfaction and so on. </a:t>
            </a:r>
            <a:endParaRPr b="0" i="0" sz="3399" u="none" cap="none" strike="noStrike">
              <a:solidFill>
                <a:srgbClr val="252D37"/>
              </a:solidFill>
              <a:latin typeface="Maven Pro"/>
              <a:ea typeface="Maven Pro"/>
              <a:cs typeface="Maven Pro"/>
              <a:sym typeface="Maven Pro"/>
            </a:endParaRPr>
          </a:p>
          <a:p>
            <a:pPr indent="-444436" lvl="0" marL="457200" marR="0" rtl="0" algn="l">
              <a:lnSpc>
                <a:spcPct val="140011"/>
              </a:lnSpc>
              <a:spcBef>
                <a:spcPts val="0"/>
              </a:spcBef>
              <a:spcAft>
                <a:spcPts val="0"/>
              </a:spcAft>
              <a:buClr>
                <a:srgbClr val="252D37"/>
              </a:buClr>
              <a:buSzPts val="3399"/>
              <a:buFont typeface="Maven Pro"/>
              <a:buChar char="●"/>
            </a:pPr>
            <a:r>
              <a:rPr b="0" i="0" lang="en-US" sz="3399" u="none" cap="none" strike="noStrike">
                <a:solidFill>
                  <a:srgbClr val="252D37"/>
                </a:solidFill>
                <a:latin typeface="Maven Pro"/>
                <a:ea typeface="Maven Pro"/>
                <a:cs typeface="Maven Pro"/>
                <a:sym typeface="Maven Pro"/>
              </a:rPr>
              <a:t>Perform analysis on </a:t>
            </a:r>
            <a:r>
              <a:rPr lang="en-US" sz="3399">
                <a:solidFill>
                  <a:srgbClr val="252D37"/>
                </a:solidFill>
                <a:latin typeface="Maven Pro"/>
                <a:ea typeface="Maven Pro"/>
                <a:cs typeface="Maven Pro"/>
                <a:sym typeface="Maven Pro"/>
              </a:rPr>
              <a:t>different</a:t>
            </a:r>
            <a:r>
              <a:rPr b="0" i="0" lang="en-US" sz="3399" u="none" cap="none" strike="noStrike">
                <a:solidFill>
                  <a:srgbClr val="252D37"/>
                </a:solidFill>
                <a:latin typeface="Maven Pro"/>
                <a:ea typeface="Maven Pro"/>
                <a:cs typeface="Maven Pro"/>
                <a:sym typeface="Maven Pro"/>
              </a:rPr>
              <a:t> departments as this can help gauge which departments are doing well and which one’s have room for improvement. </a:t>
            </a:r>
            <a:endParaRPr b="0" i="0" sz="3399" u="none" cap="none" strike="noStrike">
              <a:solidFill>
                <a:srgbClr val="252D37"/>
              </a:solidFill>
              <a:latin typeface="Maven Pro"/>
              <a:ea typeface="Maven Pro"/>
              <a:cs typeface="Maven Pro"/>
              <a:sym typeface="Maven Pro"/>
            </a:endParaRPr>
          </a:p>
          <a:p>
            <a:pPr indent="0" lvl="0" marL="0" marR="0" rtl="0" algn="l">
              <a:lnSpc>
                <a:spcPct val="140011"/>
              </a:lnSpc>
              <a:spcBef>
                <a:spcPts val="0"/>
              </a:spcBef>
              <a:spcAft>
                <a:spcPts val="0"/>
              </a:spcAft>
              <a:buClr>
                <a:srgbClr val="000000"/>
              </a:buClr>
              <a:buSzPts val="3399"/>
              <a:buFont typeface="Arial"/>
              <a:buNone/>
            </a:pPr>
            <a:r>
              <a:t/>
            </a:r>
            <a:endParaRPr b="0" i="0" sz="3399" u="none" cap="none" strike="noStrike">
              <a:solidFill>
                <a:srgbClr val="252D37"/>
              </a:solidFill>
              <a:latin typeface="Maven Pro"/>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82" name="Shape 282"/>
        <p:cNvGrpSpPr/>
        <p:nvPr/>
      </p:nvGrpSpPr>
      <p:grpSpPr>
        <a:xfrm>
          <a:off x="0" y="0"/>
          <a:ext cx="0" cy="0"/>
          <a:chOff x="0" y="0"/>
          <a:chExt cx="0" cy="0"/>
        </a:xfrm>
      </p:grpSpPr>
      <p:sp>
        <p:nvSpPr>
          <p:cNvPr id="283" name="Google Shape;283;p16"/>
          <p:cNvSpPr txBox="1"/>
          <p:nvPr/>
        </p:nvSpPr>
        <p:spPr>
          <a:xfrm>
            <a:off x="2754150" y="3832722"/>
            <a:ext cx="12779700" cy="1914000"/>
          </a:xfrm>
          <a:prstGeom prst="rect">
            <a:avLst/>
          </a:prstGeom>
          <a:noFill/>
          <a:ln>
            <a:noFill/>
          </a:ln>
        </p:spPr>
        <p:txBody>
          <a:bodyPr anchorCtr="0" anchor="t" bIns="0" lIns="0" spcFirstLastPara="1" rIns="0" wrap="square" tIns="0">
            <a:spAutoFit/>
          </a:bodyPr>
          <a:lstStyle/>
          <a:p>
            <a:pPr indent="0" lvl="0" marL="0" marR="0" rtl="0" algn="ctr">
              <a:lnSpc>
                <a:spcPct val="79998"/>
              </a:lnSpc>
              <a:spcBef>
                <a:spcPts val="0"/>
              </a:spcBef>
              <a:spcAft>
                <a:spcPts val="0"/>
              </a:spcAft>
              <a:buClr>
                <a:srgbClr val="000000"/>
              </a:buClr>
              <a:buSzPts val="15544"/>
              <a:buFont typeface="Arial"/>
              <a:buNone/>
            </a:pPr>
            <a:r>
              <a:rPr b="1" i="0" lang="en-US" sz="15544" u="none" cap="none" strike="noStrike">
                <a:solidFill>
                  <a:srgbClr val="252D37"/>
                </a:solidFill>
                <a:latin typeface="Maven Pro"/>
                <a:ea typeface="Maven Pro"/>
                <a:cs typeface="Maven Pro"/>
                <a:sym typeface="Maven Pro"/>
              </a:rPr>
              <a:t>Thank You!</a:t>
            </a:r>
            <a:endParaRPr b="0" i="0" sz="1400" u="none" cap="none" strike="noStrike">
              <a:solidFill>
                <a:srgbClr val="000000"/>
              </a:solidFill>
              <a:latin typeface="Arial"/>
              <a:ea typeface="Arial"/>
              <a:cs typeface="Arial"/>
              <a:sym typeface="Arial"/>
            </a:endParaRPr>
          </a:p>
        </p:txBody>
      </p:sp>
      <p:sp>
        <p:nvSpPr>
          <p:cNvPr id="284" name="Google Shape;284;p16"/>
          <p:cNvSpPr/>
          <p:nvPr/>
        </p:nvSpPr>
        <p:spPr>
          <a:xfrm>
            <a:off x="0" y="6974593"/>
            <a:ext cx="809919" cy="3227938"/>
          </a:xfrm>
          <a:custGeom>
            <a:rect b="b" l="l" r="r" t="t"/>
            <a:pathLst>
              <a:path extrusionOk="0" h="3227938" w="809919">
                <a:moveTo>
                  <a:pt x="0" y="0"/>
                </a:moveTo>
                <a:lnTo>
                  <a:pt x="809919" y="0"/>
                </a:lnTo>
                <a:lnTo>
                  <a:pt x="809919" y="3227938"/>
                </a:lnTo>
                <a:lnTo>
                  <a:pt x="0" y="322793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6"/>
          <p:cNvSpPr/>
          <p:nvPr/>
        </p:nvSpPr>
        <p:spPr>
          <a:xfrm>
            <a:off x="1613969" y="8304597"/>
            <a:ext cx="4261740" cy="2130870"/>
          </a:xfrm>
          <a:custGeom>
            <a:rect b="b" l="l" r="r" t="t"/>
            <a:pathLst>
              <a:path extrusionOk="0" h="2130870" w="4261740">
                <a:moveTo>
                  <a:pt x="0" y="0"/>
                </a:moveTo>
                <a:lnTo>
                  <a:pt x="4261740" y="0"/>
                </a:lnTo>
                <a:lnTo>
                  <a:pt x="4261740" y="2130870"/>
                </a:lnTo>
                <a:lnTo>
                  <a:pt x="0" y="21308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16"/>
          <p:cNvSpPr/>
          <p:nvPr/>
        </p:nvSpPr>
        <p:spPr>
          <a:xfrm rot="10800000">
            <a:off x="17582856" y="118636"/>
            <a:ext cx="809919" cy="3227938"/>
          </a:xfrm>
          <a:custGeom>
            <a:rect b="b" l="l" r="r" t="t"/>
            <a:pathLst>
              <a:path extrusionOk="0" h="3227938" w="809919">
                <a:moveTo>
                  <a:pt x="0" y="0"/>
                </a:moveTo>
                <a:lnTo>
                  <a:pt x="809919" y="0"/>
                </a:lnTo>
                <a:lnTo>
                  <a:pt x="809919" y="3227938"/>
                </a:lnTo>
                <a:lnTo>
                  <a:pt x="0" y="322793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6"/>
          <p:cNvSpPr/>
          <p:nvPr/>
        </p:nvSpPr>
        <p:spPr>
          <a:xfrm rot="10800000">
            <a:off x="12517066" y="-114300"/>
            <a:ext cx="4261740" cy="2130870"/>
          </a:xfrm>
          <a:custGeom>
            <a:rect b="b" l="l" r="r" t="t"/>
            <a:pathLst>
              <a:path extrusionOk="0" h="2130870" w="4261740">
                <a:moveTo>
                  <a:pt x="0" y="0"/>
                </a:moveTo>
                <a:lnTo>
                  <a:pt x="4261740" y="0"/>
                </a:lnTo>
                <a:lnTo>
                  <a:pt x="4261740" y="2130870"/>
                </a:lnTo>
                <a:lnTo>
                  <a:pt x="0" y="213087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6"/>
          <p:cNvSpPr/>
          <p:nvPr/>
        </p:nvSpPr>
        <p:spPr>
          <a:xfrm>
            <a:off x="6848804" y="8742398"/>
            <a:ext cx="4269428" cy="1013989"/>
          </a:xfrm>
          <a:custGeom>
            <a:rect b="b" l="l" r="r" t="t"/>
            <a:pathLst>
              <a:path extrusionOk="0" h="1013989" w="4269428">
                <a:moveTo>
                  <a:pt x="0" y="0"/>
                </a:moveTo>
                <a:lnTo>
                  <a:pt x="4269428" y="0"/>
                </a:lnTo>
                <a:lnTo>
                  <a:pt x="4269428" y="1013990"/>
                </a:lnTo>
                <a:lnTo>
                  <a:pt x="0" y="101399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3E6E0"/>
        </a:solidFill>
      </p:bgPr>
    </p:bg>
    <p:spTree>
      <p:nvGrpSpPr>
        <p:cNvPr id="292" name="Shape 292"/>
        <p:cNvGrpSpPr/>
        <p:nvPr/>
      </p:nvGrpSpPr>
      <p:grpSpPr>
        <a:xfrm>
          <a:off x="0" y="0"/>
          <a:ext cx="0" cy="0"/>
          <a:chOff x="0" y="0"/>
          <a:chExt cx="0" cy="0"/>
        </a:xfrm>
      </p:grpSpPr>
      <p:sp>
        <p:nvSpPr>
          <p:cNvPr id="293" name="Google Shape;293;g31e70d1e1fd_4_59"/>
          <p:cNvSpPr txBox="1"/>
          <p:nvPr/>
        </p:nvSpPr>
        <p:spPr>
          <a:xfrm>
            <a:off x="5323644" y="152389"/>
            <a:ext cx="7640700" cy="5049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4100"/>
              <a:buFont typeface="Arial"/>
              <a:buNone/>
            </a:pPr>
            <a:r>
              <a:rPr b="1" i="0" lang="en-US" sz="4100" u="none" cap="none" strike="noStrike">
                <a:solidFill>
                  <a:srgbClr val="252930"/>
                </a:solidFill>
                <a:latin typeface="Maven Pro"/>
                <a:ea typeface="Maven Pro"/>
                <a:cs typeface="Maven Pro"/>
                <a:sym typeface="Maven Pro"/>
              </a:rPr>
              <a:t>RESULTS</a:t>
            </a:r>
            <a:endParaRPr b="0" i="0" sz="100" u="none" cap="none" strike="noStrike">
              <a:solidFill>
                <a:srgbClr val="000000"/>
              </a:solidFill>
              <a:latin typeface="Arial"/>
              <a:ea typeface="Arial"/>
              <a:cs typeface="Arial"/>
              <a:sym typeface="Arial"/>
            </a:endParaRPr>
          </a:p>
        </p:txBody>
      </p:sp>
      <p:sp>
        <p:nvSpPr>
          <p:cNvPr id="294" name="Google Shape;294;g31e70d1e1fd_4_59"/>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g31e70d1e1fd_4_59"/>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g31e70d1e1fd_4_59"/>
          <p:cNvSpPr/>
          <p:nvPr/>
        </p:nvSpPr>
        <p:spPr>
          <a:xfrm rot="5400000">
            <a:off x="15972490" y="900019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97" name="Google Shape;297;g31e70d1e1fd_4_59"/>
          <p:cNvGraphicFramePr/>
          <p:nvPr/>
        </p:nvGraphicFramePr>
        <p:xfrm>
          <a:off x="152400" y="152400"/>
          <a:ext cx="3000000" cy="3000000"/>
        </p:xfrm>
        <a:graphic>
          <a:graphicData uri="http://schemas.openxmlformats.org/drawingml/2006/table">
            <a:tbl>
              <a:tblPr>
                <a:solidFill>
                  <a:srgbClr val="FFFFFF"/>
                </a:solidFill>
                <a:tableStyleId>{1025651A-9524-48F9-A490-1E65C2EF8FEB}</a:tableStyleId>
              </a:tblPr>
              <a:tblGrid>
                <a:gridCol w="114300"/>
              </a:tblGrid>
              <a:tr h="38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57150" marL="57150"/>
                </a:tc>
              </a:tr>
            </a:tbl>
          </a:graphicData>
        </a:graphic>
      </p:graphicFrame>
      <p:pic>
        <p:nvPicPr>
          <p:cNvPr id="298" name="Google Shape;298;g31e70d1e1fd_4_59"/>
          <p:cNvPicPr preferRelativeResize="0"/>
          <p:nvPr/>
        </p:nvPicPr>
        <p:blipFill rotWithShape="1">
          <a:blip r:embed="rId6">
            <a:alphaModFix/>
          </a:blip>
          <a:srcRect b="0" l="0" r="0" t="0"/>
          <a:stretch/>
        </p:blipFill>
        <p:spPr>
          <a:xfrm>
            <a:off x="2713475" y="657300"/>
            <a:ext cx="12855899" cy="8863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3E6E0"/>
        </a:solidFill>
      </p:bgPr>
    </p:bg>
    <p:spTree>
      <p:nvGrpSpPr>
        <p:cNvPr id="302" name="Shape 302"/>
        <p:cNvGrpSpPr/>
        <p:nvPr/>
      </p:nvGrpSpPr>
      <p:grpSpPr>
        <a:xfrm>
          <a:off x="0" y="0"/>
          <a:ext cx="0" cy="0"/>
          <a:chOff x="0" y="0"/>
          <a:chExt cx="0" cy="0"/>
        </a:xfrm>
      </p:grpSpPr>
      <p:sp>
        <p:nvSpPr>
          <p:cNvPr id="303" name="Google Shape;303;p17"/>
          <p:cNvSpPr txBox="1"/>
          <p:nvPr/>
        </p:nvSpPr>
        <p:spPr>
          <a:xfrm>
            <a:off x="4291361" y="1906814"/>
            <a:ext cx="9705277" cy="823095"/>
          </a:xfrm>
          <a:prstGeom prst="rect">
            <a:avLst/>
          </a:prstGeom>
          <a:noFill/>
          <a:ln>
            <a:noFill/>
          </a:ln>
        </p:spPr>
        <p:txBody>
          <a:bodyPr anchorCtr="0" anchor="t" bIns="0" lIns="0" spcFirstLastPara="1" rIns="0" wrap="square" tIns="0">
            <a:spAutoFit/>
          </a:bodyPr>
          <a:lstStyle/>
          <a:p>
            <a:pPr indent="0" lvl="0" marL="0" marR="0" rtl="0" algn="ctr">
              <a:lnSpc>
                <a:spcPct val="80016"/>
              </a:lnSpc>
              <a:spcBef>
                <a:spcPts val="0"/>
              </a:spcBef>
              <a:spcAft>
                <a:spcPts val="0"/>
              </a:spcAft>
              <a:buClr>
                <a:srgbClr val="000000"/>
              </a:buClr>
              <a:buSzPts val="7201"/>
              <a:buFont typeface="Arial"/>
              <a:buNone/>
            </a:pPr>
            <a:r>
              <a:rPr b="1" i="0" lang="en-US" sz="7201" u="none" cap="none" strike="noStrike">
                <a:solidFill>
                  <a:srgbClr val="252930"/>
                </a:solidFill>
                <a:latin typeface="Maven Pro"/>
                <a:ea typeface="Maven Pro"/>
                <a:cs typeface="Maven Pro"/>
                <a:sym typeface="Maven Pro"/>
              </a:rPr>
              <a:t>REFERENCE</a:t>
            </a:r>
            <a:endParaRPr b="0" i="0" sz="1400" u="none" cap="none" strike="noStrike">
              <a:solidFill>
                <a:srgbClr val="000000"/>
              </a:solidFill>
              <a:latin typeface="Arial"/>
              <a:ea typeface="Arial"/>
              <a:cs typeface="Arial"/>
              <a:sym typeface="Arial"/>
            </a:endParaRPr>
          </a:p>
        </p:txBody>
      </p:sp>
      <p:grpSp>
        <p:nvGrpSpPr>
          <p:cNvPr id="304" name="Google Shape;304;p17"/>
          <p:cNvGrpSpPr/>
          <p:nvPr/>
        </p:nvGrpSpPr>
        <p:grpSpPr>
          <a:xfrm>
            <a:off x="1028700" y="2977938"/>
            <a:ext cx="16230707" cy="5861959"/>
            <a:chOff x="0" y="-38100"/>
            <a:chExt cx="4274726" cy="417569"/>
          </a:xfrm>
        </p:grpSpPr>
        <p:sp>
          <p:nvSpPr>
            <p:cNvPr id="305" name="Google Shape;305;p17"/>
            <p:cNvSpPr/>
            <p:nvPr/>
          </p:nvSpPr>
          <p:spPr>
            <a:xfrm>
              <a:off x="0" y="0"/>
              <a:ext cx="4274726" cy="379469"/>
            </a:xfrm>
            <a:custGeom>
              <a:rect b="b" l="l" r="r" t="t"/>
              <a:pathLst>
                <a:path extrusionOk="0" h="379469" w="4274726">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2941"/>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17"/>
            <p:cNvSpPr txBox="1"/>
            <p:nvPr/>
          </p:nvSpPr>
          <p:spPr>
            <a:xfrm>
              <a:off x="0" y="-38100"/>
              <a:ext cx="4274726" cy="417569"/>
            </a:xfrm>
            <a:prstGeom prst="rect">
              <a:avLst/>
            </a:prstGeom>
            <a:noFill/>
            <a:ln>
              <a:noFill/>
            </a:ln>
          </p:spPr>
          <p:txBody>
            <a:bodyPr anchorCtr="0" anchor="ctr" bIns="50800" lIns="50800" spcFirstLastPara="1" rIns="50800" wrap="square" tIns="50800">
              <a:noAutofit/>
            </a:bodyPr>
            <a:lstStyle/>
            <a:p>
              <a:pPr indent="-476736" lvl="2" marL="1468118"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Friedman &amp; Ruttenberg (1995): Introduced DEA for hospital efficiency.</a:t>
              </a:r>
              <a:endParaRPr b="0" i="0" sz="3200" u="none" cap="none" strike="noStrike">
                <a:solidFill>
                  <a:schemeClr val="dk1"/>
                </a:solidFill>
                <a:latin typeface="Arial"/>
                <a:ea typeface="Arial"/>
                <a:cs typeface="Arial"/>
                <a:sym typeface="Arial"/>
              </a:endParaRPr>
            </a:p>
            <a:p>
              <a:pPr indent="-476736" lvl="2" marL="1468118"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Ozcan et al. (2010): Examined trade-offs between efficiency, quality, and cost.</a:t>
              </a:r>
              <a:endParaRPr b="0" i="0" sz="3200" u="none" cap="none" strike="noStrike">
                <a:solidFill>
                  <a:schemeClr val="dk1"/>
                </a:solidFill>
                <a:latin typeface="Arial"/>
                <a:ea typeface="Arial"/>
                <a:cs typeface="Arial"/>
                <a:sym typeface="Arial"/>
              </a:endParaRPr>
            </a:p>
            <a:p>
              <a:pPr indent="-476736" lvl="2" marL="1468118" marR="0" rtl="0" algn="just">
                <a:lnSpc>
                  <a:spcPct val="140011"/>
                </a:lnSpc>
                <a:spcBef>
                  <a:spcPts val="0"/>
                </a:spcBef>
                <a:spcAft>
                  <a:spcPts val="0"/>
                </a:spcAft>
                <a:buClr>
                  <a:srgbClr val="252930"/>
                </a:buClr>
                <a:buSzPts val="3200"/>
                <a:buFont typeface="Arial"/>
                <a:buChar char="⚬"/>
              </a:pPr>
              <a:r>
                <a:rPr b="0" i="0" lang="en-US" sz="3200" u="none" cap="none" strike="noStrike">
                  <a:solidFill>
                    <a:srgbClr val="252930"/>
                  </a:solidFill>
                  <a:latin typeface="Maven Pro"/>
                  <a:ea typeface="Maven Pro"/>
                  <a:cs typeface="Maven Pro"/>
                  <a:sym typeface="Maven Pro"/>
                </a:rPr>
                <a:t>Wang et al. (2017): Integrated efficiency, quality, and cost in-hospital evaluation.</a:t>
              </a:r>
              <a:endParaRPr b="0" i="0" sz="1800" u="none" cap="none" strike="noStrike">
                <a:solidFill>
                  <a:schemeClr val="dk1"/>
                </a:solidFill>
                <a:latin typeface="Calibri"/>
                <a:ea typeface="Calibri"/>
                <a:cs typeface="Calibri"/>
                <a:sym typeface="Calibri"/>
              </a:endParaRPr>
            </a:p>
          </p:txBody>
        </p:sp>
      </p:grpSp>
      <p:sp>
        <p:nvSpPr>
          <p:cNvPr id="307" name="Google Shape;307;p17"/>
          <p:cNvSpPr txBox="1"/>
          <p:nvPr/>
        </p:nvSpPr>
        <p:spPr>
          <a:xfrm>
            <a:off x="3714724" y="3914659"/>
            <a:ext cx="8691900" cy="215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7"/>
          <p:cNvSpPr/>
          <p:nvPr/>
        </p:nvSpPr>
        <p:spPr>
          <a:xfrm flipH="1">
            <a:off x="-211950" y="-104775"/>
            <a:ext cx="4114800" cy="4114800"/>
          </a:xfrm>
          <a:custGeom>
            <a:rect b="b" l="l" r="r" t="t"/>
            <a:pathLst>
              <a:path extrusionOk="0" h="4114800" w="4114800">
                <a:moveTo>
                  <a:pt x="4114800" y="0"/>
                </a:moveTo>
                <a:lnTo>
                  <a:pt x="0" y="0"/>
                </a:lnTo>
                <a:lnTo>
                  <a:pt x="0" y="4114800"/>
                </a:lnTo>
                <a:lnTo>
                  <a:pt x="4114800" y="4114800"/>
                </a:lnTo>
                <a:lnTo>
                  <a:pt x="411480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17"/>
          <p:cNvSpPr/>
          <p:nvPr/>
        </p:nvSpPr>
        <p:spPr>
          <a:xfrm>
            <a:off x="17773650" y="8229600"/>
            <a:ext cx="516220" cy="2057400"/>
          </a:xfrm>
          <a:custGeom>
            <a:rect b="b" l="l" r="r" t="t"/>
            <a:pathLst>
              <a:path extrusionOk="0" h="2057400" w="516220">
                <a:moveTo>
                  <a:pt x="0" y="0"/>
                </a:moveTo>
                <a:lnTo>
                  <a:pt x="516220" y="0"/>
                </a:lnTo>
                <a:lnTo>
                  <a:pt x="516220" y="2057400"/>
                </a:lnTo>
                <a:lnTo>
                  <a:pt x="0" y="20574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7"/>
          <p:cNvSpPr/>
          <p:nvPr/>
        </p:nvSpPr>
        <p:spPr>
          <a:xfrm>
            <a:off x="14542983" y="9077308"/>
            <a:ext cx="2716317" cy="1358159"/>
          </a:xfrm>
          <a:custGeom>
            <a:rect b="b" l="l" r="r" t="t"/>
            <a:pathLst>
              <a:path extrusionOk="0" h="1358159" w="2716317">
                <a:moveTo>
                  <a:pt x="0" y="0"/>
                </a:moveTo>
                <a:lnTo>
                  <a:pt x="2716317" y="0"/>
                </a:lnTo>
                <a:lnTo>
                  <a:pt x="2716317" y="1358159"/>
                </a:lnTo>
                <a:lnTo>
                  <a:pt x="0" y="135815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